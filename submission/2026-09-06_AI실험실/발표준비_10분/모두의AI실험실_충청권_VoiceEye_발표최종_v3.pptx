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5e529147144d0b" /><Relationship Type="http://schemas.openxmlformats.org/officeDocument/2006/relationships/extended-properties" Target="/docProps/app.xml" Id="R6f5fdf6006b4451e" /><Relationship Type="http://schemas.openxmlformats.org/officeDocument/2006/relationships/officeDocument" Target="/ppt/presentation.xml" Id="Re952de0e624e42b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ff01b84038494d9c"/>
  </p:sldMasterIdLst>
  <p:notesMasterIdLst>
    <p:notesMasterId xmlns:r="http://schemas.openxmlformats.org/officeDocument/2006/relationships" r:id="Ra598bae70bb64780"/>
  </p:notesMasterIdLst>
  <p:sldIdLst>
    <p:sldId xmlns:r="http://schemas.openxmlformats.org/officeDocument/2006/relationships" id="256" r:id="Re6fa90656fc84681"/>
    <p:sldId xmlns:r="http://schemas.openxmlformats.org/officeDocument/2006/relationships" id="257" r:id="Rcfc5924b34634e2c"/>
    <p:sldId xmlns:r="http://schemas.openxmlformats.org/officeDocument/2006/relationships" id="258" r:id="R109f8b3eafb549e7"/>
    <p:sldId xmlns:r="http://schemas.openxmlformats.org/officeDocument/2006/relationships" id="259" r:id="Rfb65b2ea1e6a4713"/>
    <p:sldId xmlns:r="http://schemas.openxmlformats.org/officeDocument/2006/relationships" id="260" r:id="R377b9cca96634e9b"/>
    <p:sldId xmlns:r="http://schemas.openxmlformats.org/officeDocument/2006/relationships" id="261" r:id="R6fa85db59f854c64"/>
    <p:sldId xmlns:r="http://schemas.openxmlformats.org/officeDocument/2006/relationships" id="262" r:id="Rec0421dacb824e7c"/>
    <p:sldId xmlns:r="http://schemas.openxmlformats.org/officeDocument/2006/relationships" id="263" r:id="R595359401d16405b"/>
    <p:sldId xmlns:r="http://schemas.openxmlformats.org/officeDocument/2006/relationships" id="264" r:id="R81986478f01942c1"/>
    <p:sldId xmlns:r="http://schemas.openxmlformats.org/officeDocument/2006/relationships" id="265" r:id="Rfce892fa8cea49d3"/>
    <p:sldId xmlns:r="http://schemas.openxmlformats.org/officeDocument/2006/relationships" id="266" r:id="R27c83224a18b4c06"/>
    <p:sldId xmlns:r="http://schemas.openxmlformats.org/officeDocument/2006/relationships" id="267" r:id="Rc37c3e4e928f4ab0"/>
    <p:sldId xmlns:r="http://schemas.openxmlformats.org/officeDocument/2006/relationships" id="268" r:id="R5d3ea9ef231a4e2f"/>
    <p:sldId xmlns:r="http://schemas.openxmlformats.org/officeDocument/2006/relationships" id="269" r:id="Rec640ea0a46e4ef1"/>
    <p:sldId xmlns:r="http://schemas.openxmlformats.org/officeDocument/2006/relationships" id="270" r:id="Rd7c167e9b4df4f92"/>
    <p:sldId xmlns:r="http://schemas.openxmlformats.org/officeDocument/2006/relationships" id="271" r:id="Rf9559dccc24f4e55"/>
    <p:sldId xmlns:r="http://schemas.openxmlformats.org/officeDocument/2006/relationships" id="272" r:id="R44fbc13264254d29"/>
    <p:sldId xmlns:r="http://schemas.openxmlformats.org/officeDocument/2006/relationships" id="273" r:id="R146258aa60414390"/>
    <p:sldId xmlns:r="http://schemas.openxmlformats.org/officeDocument/2006/relationships" id="274" r:id="R661d3021f1ef449e"/>
  </p:sldIdLst>
  <p:sldSz cx="12192000" cy="6858000"/>
  <p:notesSz cx="6858000" cy="9144000"/>
  <p:embeddedFontLst>
    <p:embeddedFont>
      <p:font typeface="나눔고딕 ExtraBold"/>
      <p:bold xmlns:r="http://schemas.openxmlformats.org/officeDocument/2006/relationships" r:id="Rd461caeebf824604"/>
    </p:embeddedFont>
    <p:embeddedFont>
      <p:font typeface="Malgun Gothic"/>
      <p:regular xmlns:r="http://schemas.openxmlformats.org/officeDocument/2006/relationships" r:id="R058ab66cd3e946f5"/>
      <p:bold xmlns:r="http://schemas.openxmlformats.org/officeDocument/2006/relationships" r:id="R7f522fef3e6e4fd6"/>
    </p:embeddedFont>
    <p:embeddedFont>
      <p:font typeface="HY견명조"/>
      <p:regular xmlns:r="http://schemas.openxmlformats.org/officeDocument/2006/relationships" r:id="R980e0cd4cd084324"/>
    </p:embeddedFont>
  </p:embeddedFontLst>
</p:presentation>
</file>

<file path=ppt/authors.xml><?xml version="1.0" encoding="utf-8"?>
<p188:authorLst xmlns:p188="http://schemas.microsoft.com/office/powerpoint/2018/8/main">
  <p188:author id="{5DD2E2BA-A1C1-1D35-9C2B-07CF8CFD5CB4}" name="단비 석" initials="단석" userId="d86bab9734a133c3" providerId="Windows Liv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dd780c6e1d4e77" /><Relationship Type="http://schemas.openxmlformats.org/officeDocument/2006/relationships/slideMaster" Target="/ppt/slideMasters/slideMaster1.xml" Id="Rff01b84038494d9c" /><Relationship Type="http://schemas.openxmlformats.org/officeDocument/2006/relationships/notesMaster" Target="/ppt/notesMasters/notesMaster1.xml" Id="Ra598bae70bb64780" /><Relationship Type="http://schemas.openxmlformats.org/officeDocument/2006/relationships/presProps" Target="/ppt/presProps.xml" Id="R44e91718cf464f14" /><Relationship Type="http://schemas.openxmlformats.org/officeDocument/2006/relationships/viewProps" Target="/ppt/viewProps.xml" Id="R3b92f33db82344c8" /><Relationship Type="http://schemas.openxmlformats.org/officeDocument/2006/relationships/tableStyles" Target="/ppt/tableStyles.xml" Id="R8ed7411c1c214fb8" /><Relationship Type="http://schemas.openxmlformats.org/officeDocument/2006/relationships/font" Target="/ppt/fonts/font.dat" Id="Rd461caeebf824604" /><Relationship Type="http://schemas.openxmlformats.org/officeDocument/2006/relationships/font" Target="/ppt/fonts/font2.dat" Id="R058ab66cd3e946f5" /><Relationship Type="http://schemas.openxmlformats.org/officeDocument/2006/relationships/font" Target="/ppt/fonts/font3.dat" Id="R7f522fef3e6e4fd6" /><Relationship Type="http://schemas.openxmlformats.org/officeDocument/2006/relationships/font" Target="/ppt/fonts/font4.dat" Id="R980e0cd4cd084324" /><Relationship Type="http://schemas.microsoft.com/office/2018/10/relationships/authors" Target="/ppt/authors.xml" Id="R7689d8ef0a7c4904" /><Relationship Type="http://schemas.openxmlformats.org/officeDocument/2006/relationships/slide" Target="/ppt/slides/slide1.xml" Id="Re6fa90656fc84681" /><Relationship Type="http://schemas.openxmlformats.org/officeDocument/2006/relationships/slide" Target="/ppt/slides/slide2.xml" Id="Rcfc5924b34634e2c" /><Relationship Type="http://schemas.openxmlformats.org/officeDocument/2006/relationships/slide" Target="/ppt/slides/slide3.xml" Id="R109f8b3eafb549e7" /><Relationship Type="http://schemas.openxmlformats.org/officeDocument/2006/relationships/slide" Target="/ppt/slides/slide4.xml" Id="Rfb65b2ea1e6a4713" /><Relationship Type="http://schemas.openxmlformats.org/officeDocument/2006/relationships/slide" Target="/ppt/slides/slide5.xml" Id="R377b9cca96634e9b" /><Relationship Type="http://schemas.openxmlformats.org/officeDocument/2006/relationships/slide" Target="/ppt/slides/slide6.xml" Id="R6fa85db59f854c64" /><Relationship Type="http://schemas.openxmlformats.org/officeDocument/2006/relationships/slide" Target="/ppt/slides/slide7.xml" Id="Rec0421dacb824e7c" /><Relationship Type="http://schemas.openxmlformats.org/officeDocument/2006/relationships/slide" Target="/ppt/slides/slide8.xml" Id="R595359401d16405b" /><Relationship Type="http://schemas.openxmlformats.org/officeDocument/2006/relationships/slide" Target="/ppt/slides/slide9.xml" Id="R81986478f01942c1" /><Relationship Type="http://schemas.openxmlformats.org/officeDocument/2006/relationships/slide" Target="/ppt/slides/slide10.xml" Id="Rfce892fa8cea49d3" /><Relationship Type="http://schemas.openxmlformats.org/officeDocument/2006/relationships/slide" Target="/ppt/slides/slide11.xml" Id="R27c83224a18b4c06" /><Relationship Type="http://schemas.openxmlformats.org/officeDocument/2006/relationships/slide" Target="/ppt/slides/slide12.xml" Id="Rc37c3e4e928f4ab0" /><Relationship Type="http://schemas.openxmlformats.org/officeDocument/2006/relationships/slide" Target="/ppt/slides/slide13.xml" Id="R5d3ea9ef231a4e2f" /><Relationship Type="http://schemas.openxmlformats.org/officeDocument/2006/relationships/slide" Target="/ppt/slides/slide14.xml" Id="Rec640ea0a46e4ef1" /><Relationship Type="http://schemas.openxmlformats.org/officeDocument/2006/relationships/slide" Target="/ppt/slides/slide15.xml" Id="Rd7c167e9b4df4f92" /><Relationship Type="http://schemas.openxmlformats.org/officeDocument/2006/relationships/slide" Target="/ppt/slides/slide16.xml" Id="Rf9559dccc24f4e55" /><Relationship Type="http://schemas.openxmlformats.org/officeDocument/2006/relationships/slide" Target="/ppt/slides/slide17.xml" Id="R44fbc13264254d29" /><Relationship Type="http://schemas.openxmlformats.org/officeDocument/2006/relationships/slide" Target="/ppt/slides/slide18.xml" Id="R146258aa60414390" /><Relationship Type="http://schemas.openxmlformats.org/officeDocument/2006/relationships/slide" Target="/ppt/slides/slide19.xml" Id="R661d3021f1ef44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5b84e46d4440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Malgun Gothi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Malgun Gothi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b7cf99e95a4d48" /><Relationship Type="http://schemas.openxmlformats.org/officeDocument/2006/relationships/notesMaster" Target="/ppt/notesMasters/notesMaster1.xml" Id="R317985c4583549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547620bbe34fc3" /><Relationship Type="http://schemas.openxmlformats.org/officeDocument/2006/relationships/notesMaster" Target="/ppt/notesMasters/notesMaster1.xml" Id="Rac5baa6488e744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a1fc1557cb4f5b" /><Relationship Type="http://schemas.openxmlformats.org/officeDocument/2006/relationships/notesMaster" Target="/ppt/notesMasters/notesMaster1.xml" Id="Rb4bb03ca25d74c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b3b528c59844f7" /><Relationship Type="http://schemas.openxmlformats.org/officeDocument/2006/relationships/notesMaster" Target="/ppt/notesMasters/notesMaster1.xml" Id="R29155ead4949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f03320764f4268" /><Relationship Type="http://schemas.openxmlformats.org/officeDocument/2006/relationships/notesMaster" Target="/ppt/notesMasters/notesMaster1.xml" Id="R634dc31b139f4c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e2a68e4f984093" /><Relationship Type="http://schemas.openxmlformats.org/officeDocument/2006/relationships/notesMaster" Target="/ppt/notesMasters/notesMaster1.xml" Id="R2340a7c812fd4b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8c90c225be4b3a" /><Relationship Type="http://schemas.openxmlformats.org/officeDocument/2006/relationships/notesMaster" Target="/ppt/notesMasters/notesMaster1.xml" Id="R336bfd3aae1d48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10db0c20634a6b" /><Relationship Type="http://schemas.openxmlformats.org/officeDocument/2006/relationships/notesMaster" Target="/ppt/notesMasters/notesMaster1.xml" Id="R43a03799e9bc4f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94696233744a48" /><Relationship Type="http://schemas.openxmlformats.org/officeDocument/2006/relationships/notesMaster" Target="/ppt/notesMasters/notesMaster1.xml" Id="R33bdbb243f3a43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69e9bb9ccf4849" /><Relationship Type="http://schemas.openxmlformats.org/officeDocument/2006/relationships/notesMaster" Target="/ppt/notesMasters/notesMaster1.xml" Id="R32c316804d8a47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1b5a6480c94ecc" /><Relationship Type="http://schemas.openxmlformats.org/officeDocument/2006/relationships/notesMaster" Target="/ppt/notesMasters/notesMaster1.xml" Id="R6e192bb720b448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1861663ff94aa4" /><Relationship Type="http://schemas.openxmlformats.org/officeDocument/2006/relationships/notesMaster" Target="/ppt/notesMasters/notesMaster1.xml" Id="R673a20ad16ec4d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55ded5c16a4492" /><Relationship Type="http://schemas.openxmlformats.org/officeDocument/2006/relationships/notesMaster" Target="/ppt/notesMasters/notesMaster1.xml" Id="R88a4112a72ab4b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6f97a6a7ff45a4" /><Relationship Type="http://schemas.openxmlformats.org/officeDocument/2006/relationships/notesMaster" Target="/ppt/notesMasters/notesMaster1.xml" Id="R1306d7273bc743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6d5d33fdb24a6a" /><Relationship Type="http://schemas.openxmlformats.org/officeDocument/2006/relationships/notesMaster" Target="/ppt/notesMasters/notesMaster1.xml" Id="R1ac11eb76a5e41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759442d8f241ac" /><Relationship Type="http://schemas.openxmlformats.org/officeDocument/2006/relationships/notesMaster" Target="/ppt/notesMasters/notesMaster1.xml" Id="R3a727e22765846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29d6ddac134a4c" /><Relationship Type="http://schemas.openxmlformats.org/officeDocument/2006/relationships/notesMaster" Target="/ppt/notesMasters/notesMaster1.xml" Id="R083dd123e0b144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893f144c914006" /><Relationship Type="http://schemas.openxmlformats.org/officeDocument/2006/relationships/notesMaster" Target="/ppt/notesMasters/notesMaster1.xml" Id="Rf1d49e8cebab40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ad892ab5114fe9" /><Relationship Type="http://schemas.openxmlformats.org/officeDocument/2006/relationships/notesMaster" Target="/ppt/notesMasters/notesMaster1.xml" Id="R8ae627551a664f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  <a:endParaRPr/>
          </a:p>
          <a:p xmlns:a="http://schemas.openxmlformats.org/drawingml/2006/main">
            <a:r>
              <a:t>충청권 보이스아이 랩, 이종현입니다.</a:t>
            </a:r>
          </a:p>
          <a:p xmlns:a="http://schemas.openxmlformats.org/drawingml/2006/main">
            <a:r>
              <a:t>보이스아이는 청각장애인을 위한 회의 접근성 서비스입니다.</a:t>
            </a:r>
          </a:p>
          <a:p xmlns:a="http://schemas.openxmlformats.org/drawingml/2006/main">
            <a:r>
              <a:t>회의에서 오가는 말을 읽고, 내 의견을 음성으로 내보냅니다.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저희가 다루는 건 회의가 끝난 뒤가 아니라, 회의가 돌아가는 그 순간입니다.</a:t>
            </a:r>
            <a:endParaRPr/>
          </a:p>
          <a:p xmlns:a="http://schemas.openxmlformats.org/drawingml/2006/main">
            <a:r>
              <a:t>대화는 화면에서 읽습니다.</a:t>
            </a:r>
          </a:p>
          <a:p xmlns:a="http://schemas.openxmlformats.org/drawingml/2006/main">
            <a:r>
              <a:t>할 말은 키보드로 씁니다.</a:t>
            </a:r>
          </a:p>
          <a:p xmlns:a="http://schemas.openxmlformats.org/drawingml/2006/main">
            <a:r>
              <a:t>내가 확인하고 전송을 눌렀을 때만 소리가 나갑니다.</a:t>
            </a:r>
            <a:endParaRPr/>
          </a:p>
          <a:p xmlns:a="http://schemas.openxmlformats.org/drawingml/2006/main">
            <a:r>
              <a:t>▸ 발언자는 이름 대신 좌석 번호로 표시합니다.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1인 참가입니다.</a:t>
            </a:r>
            <a:endParaRPr/>
          </a:p>
          <a:p xmlns:a="http://schemas.openxmlformats.org/drawingml/2006/main">
            <a:r>
              <a:t>기획과 리액트 개발, 화면 디자인을 제가 했습니다.</a:t>
            </a:r>
          </a:p>
          <a:p xmlns:a="http://schemas.openxmlformats.org/drawingml/2006/main">
            <a:r>
              <a:t>본선에서는 수집과 시험, 결과 정리까지 직접 합니다.</a:t>
            </a:r>
          </a:p>
          <a:p xmlns:a="http://schemas.openxmlformats.org/drawingml/2006/main">
            <a:r>
              <a:t>음성 처리 자문과 당사자 참여자는 모집 예정입니다.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소규모 회의에서 말을 놓치면 보통은 그냥 넘깁니다.</a:t>
            </a:r>
            <a:endParaRPr/>
          </a:p>
          <a:p xmlns:a="http://schemas.openxmlformats.org/drawingml/2006/main">
            <a:r>
              <a:t>대화를 끊고 다시 묻는 게 부담스럽기 때문입니다.</a:t>
            </a:r>
          </a:p>
          <a:p xmlns:a="http://schemas.openxmlformats.org/drawingml/2006/main">
            <a:r>
              <a:t>두 사람이 겹쳐 말하면 자막이 있어도 누구 말인지 모릅니다.</a:t>
            </a:r>
          </a:p>
          <a:p xmlns:a="http://schemas.openxmlformats.org/drawingml/2006/main">
            <a:r>
              <a:t>의견을 키보드로 쓰는 동안 회의는 벌써 다음 주제로 갑니다.</a:t>
            </a:r>
            <a:endParaRPr/>
          </a:p>
          <a:p xmlns:a="http://schemas.openxmlformats.org/drawingml/2006/main">
            <a:r>
              <a:t>문자와 키보드를 쓰는 청각장애인이 매번 겪는 일입니다.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수어 통역과 문자통역은 사람이 하는 일입니다. 대체하지 않습니다.</a:t>
            </a:r>
          </a:p>
          <a:p xmlns:a="http://schemas.openxmlformats.org/drawingml/2006/main">
            <a:r>
              <a:t>자막과 회의록 서비스는 기록에 강합니다.</a:t>
            </a:r>
            <a:endParaRPr/>
          </a:p>
          <a:p xmlns:a="http://schemas.openxmlformats.org/drawingml/2006/main">
            <a:r>
              <a:t>저희가 더하려는 건 두 가지입니다.</a:t>
            </a:r>
            <a:endParaRPr/>
          </a:p>
          <a:p xmlns:a="http://schemas.openxmlformats.org/drawingml/2006/main">
            <a:r>
              <a:t>놓친 구간을 회의 중에 찾아 표시하는 것, 그리고 확인한 문장을 음성으로 내보내는 것.</a:t>
            </a:r>
            <a:endParaRPr/>
          </a:p>
          <a:p xmlns:a="http://schemas.openxmlformats.org/drawingml/2006/main">
            <a:r>
              <a:t>이 표시가 실제로 도움이 되는지는 기본 자막과 나란히 놓고 시험합니다.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  <a:endParaRPr/>
          </a:p>
          <a:p xmlns:a="http://schemas.openxmlformats.org/drawingml/2006/main">
            <a:r>
              <a:t>AI가 들어갈 자리는 둘입니다.</a:t>
            </a:r>
          </a:p>
          <a:p xmlns:a="http://schemas.openxmlformats.org/drawingml/2006/main">
            <a:r>
              <a:t>참석자 발화를 자막으로 바꾸는 음성 인식, 제가 쓴 문장을 읽어 주는 음성 합성.</a:t>
            </a:r>
          </a:p>
          <a:p xmlns:a="http://schemas.openxmlformats.org/drawingml/2006/main">
            <a:r>
              <a:t>여기에 하나 더 붙입니다. 말소리는 있었는데 자막이 안 나온 구간을 찾아 표시하는 기능입니다.</a:t>
            </a:r>
            <a:endParaRPr/>
          </a:p>
          <a:p xmlns:a="http://schemas.openxmlformats.org/drawingml/2006/main">
            <a:r>
              <a:t>로컬 후보는 faster-whisper입니다. 인식률과 지연을 비교한 뒤 정합니다.</a:t>
            </a:r>
            <a:endParaRPr/>
          </a:p>
          <a:p xmlns:a="http://schemas.openxmlformats.org/drawingml/2006/main">
            <a:r>
              <a:t>방향 추정은 얼굴을 쓰지 않고 마이크 배열로 합니다.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쓰는 순서는 네 단계입니다.</a:t>
            </a:r>
            <a:endParaRPr/>
          </a:p>
          <a:p xmlns:a="http://schemas.openxmlformats.org/drawingml/2006/main">
            <a:r>
              <a:t>시작 전에 참석자에게 음성 처리 방식을 알립니다.</a:t>
            </a:r>
          </a:p>
          <a:p xmlns:a="http://schemas.openxmlformats.org/drawingml/2006/main">
            <a:r>
              <a:t>회의 중에는 임시 자막과 확정 자막을 읽습니다.</a:t>
            </a:r>
          </a:p>
          <a:p xmlns:a="http://schemas.openxmlformats.org/drawingml/2006/main">
            <a:r>
              <a:t>할 말이 생기면 문장을 쓰고, 나만 보이는 미리보기에서 한 번 더 읽습니다.</a:t>
            </a:r>
            <a:endParaRPr/>
          </a:p>
          <a:p xmlns:a="http://schemas.openxmlformats.org/drawingml/2006/main">
            <a:r>
              <a:t>전송을 눌러야 소리가 나가고, 재생 중에도 바로 멈춥니다.</a:t>
            </a:r>
            <a:endParaRPr/>
          </a:p>
          <a:p xmlns:a="http://schemas.openxmlformats.org/drawingml/2006/main">
            <a:r>
              <a:t>▸ 화면에 띄운 사진은 실제 입력 화면입니다.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장비는 노트북 한 대로 시작합니다.</a:t>
            </a:r>
          </a:p>
          <a:p xmlns:a="http://schemas.openxmlformats.org/drawingml/2006/main">
            <a:r>
              <a:t>USB 마이크가 소리를 받고, 키보드로 문장을 씁니다.</a:t>
            </a:r>
            <a:endParaRPr/>
          </a:p>
          <a:p xmlns:a="http://schemas.openxmlformats.org/drawingml/2006/main">
            <a:r>
              <a:t>인식과 합성, 자막과 오류 시각 기록은 노트북이 다 합니다.</a:t>
            </a:r>
            <a:endParaRPr/>
          </a:p>
          <a:p xmlns:a="http://schemas.openxmlformats.org/drawingml/2006/main">
            <a:r>
              <a:t>확인한 문장만 스피커로 나갑니다.</a:t>
            </a:r>
            <a:endParaRPr/>
          </a:p>
          <a:p xmlns:a="http://schemas.openxmlformats.org/drawingml/2006/main">
            <a:r>
              <a:t>투명 패널은 공유할 자막만 띄우는 확장안입니다.</a:t>
            </a:r>
            <a:endParaRPr/>
          </a:p>
          <a:p xmlns:a="http://schemas.openxmlformats.org/drawingml/2006/main">
            <a:r>
              <a:t>전원과 글자 가독성은 실물로 확인해야 합니다.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지금 되는 건 여기까지입니다.</a:t>
            </a:r>
            <a:endParaRPr/>
          </a:p>
          <a:p xmlns:a="http://schemas.openxmlformats.org/drawingml/2006/main">
            <a:r>
              <a:t>문장 작성, 미리보기, 한국어 음성 재생과 중지.</a:t>
            </a:r>
          </a:p>
          <a:p xmlns:a="http://schemas.openxmlformats.org/drawingml/2006/main">
            <a:r>
              <a:t>브라우저 음성 인식 코드는 있지만, 실제 마이크 인식률과 지연은 아직 재지 않았습니다.</a:t>
            </a:r>
          </a:p>
          <a:p xmlns:a="http://schemas.openxmlformats.org/drawingml/2006/main">
            <a:r>
              <a:t>좌석과 겹침 표시는 대본으로 돌리는 시연용이고, 실시간 화자 인식은 아직 못 합니다.</a:t>
            </a:r>
            <a:endParaRPr/>
          </a:p>
          <a:p xmlns:a="http://schemas.openxmlformats.org/drawingml/2006/main">
            <a:r>
              <a:t>로컬 STT와 자막 공백 확인이 본선 개발 범위입니다.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실시간 인식은 잘 될 때보다 깨질 때가 문제입니다.</a:t>
            </a:r>
            <a:endParaRPr/>
          </a:p>
          <a:p xmlns:a="http://schemas.openxmlformats.org/drawingml/2006/main">
            <a:r>
              <a:t>인식을 껐다 켜면 이전 인식기가 살아 있거나, 같은 자막이 두 번 들어옵니다.</a:t>
            </a:r>
          </a:p>
          <a:p xmlns:a="http://schemas.openxmlformats.org/drawingml/2006/main">
            <a:r>
              <a:t>이걸 1주차에 먼저 막습니다.</a:t>
            </a:r>
          </a:p>
          <a:p xmlns:a="http://schemas.openxmlformats.org/drawingml/2006/main">
            <a:r>
              <a:t>스피커로 나간 제 합성 음성을 다시 받아 적는 것도 차단합니다.</a:t>
            </a:r>
            <a:endParaRPr/>
          </a:p>
          <a:p xmlns:a="http://schemas.openxmlformats.org/drawingml/2006/main">
            <a:r>
              <a:t>저장과 외부 전송은 처리 경로와 삭제 기한을 안내하고, 동의를 받은 뒤에 켭니다.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10월부터 12월까지 12주, 240시간입니다.</a:t>
            </a:r>
            <a:endParaRPr/>
          </a:p>
          <a:p xmlns:a="http://schemas.openxmlformats.org/drawingml/2006/main">
            <a:r>
              <a:t>앞 4주는 인식과 합성, 공유 화면을 안정화합니다.</a:t>
            </a:r>
          </a:p>
          <a:p xmlns:a="http://schemas.openxmlformats.org/drawingml/2006/main">
            <a:r>
              <a:t>중간에는 참여자를 모집해 자료를 모으고, 자막 공백과 오류 처리를 붙입니다.</a:t>
            </a:r>
          </a:p>
          <a:p xmlns:a="http://schemas.openxmlformats.org/drawingml/2006/main">
            <a:r>
              <a:t>뒤에는 당사자 사용성 평가와 결과 정리입니다.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자체 예산은 93만원입니다.</a:t>
            </a:r>
            <a:endParaRPr/>
          </a:p>
          <a:p xmlns:a="http://schemas.openxmlformats.org/drawingml/2006/main">
            <a:r>
              <a:t>장비 15만, 참여자 보상 33만, 외부 주석 16만, 자문 20만, 교통과 소모품 9만.</a:t>
            </a:r>
          </a:p>
          <a:p xmlns:a="http://schemas.openxmlformats.org/drawingml/2006/main">
            <a:r>
              <a:t>견적 전 가정이고, 투명 패널 제작과 유료 API는 뺐습니다.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낭독과 모의 회의에 성인 8명, 두 조로 나눠 15분 회의를 여섯 번 돕니다.</a:t>
            </a:r>
          </a:p>
          <a:p xmlns:a="http://schemas.openxmlformats.org/drawingml/2006/main">
            <a:r>
              <a:t>당사자 사용성 평가는 청각장애인 4명입니다.</a:t>
            </a:r>
            <a:endParaRPr/>
          </a:p>
          <a:p xmlns:a="http://schemas.openxmlformats.org/drawingml/2006/main">
            <a:r>
              <a:t>음성 정답은 저와 외부 검토자가 따로 표시한 뒤 맞춥니다.</a:t>
            </a:r>
            <a:endParaRPr/>
          </a:p>
          <a:p xmlns:a="http://schemas.openxmlformats.org/drawingml/2006/main">
            <a:r>
              <a:t>아직 한 명도 모집 전입니다.</a:t>
            </a:r>
            <a:endParaRPr/>
          </a:p>
          <a:p xmlns:a="http://schemas.openxmlformats.org/drawingml/2006/main">
            <a:r>
              <a:t>실제 인원과 수행 범위는 결과에 그대로 적겠습니다.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시험 문장은 직접 만듭니다.</a:t>
            </a:r>
            <a:endParaRPr/>
          </a:p>
          <a:p xmlns:a="http://schemas.openxmlformats.org/drawingml/2006/main">
            <a:r>
              <a:t>기관명, 숫자, 일반문장 스무 개씩 예순 문장.</a:t>
            </a:r>
          </a:p>
          <a:p xmlns:a="http://schemas.openxmlformats.org/drawingml/2006/main">
            <a:r>
              <a:t>여기에 15분 회의 여섯 회를 더합니다.</a:t>
            </a:r>
          </a:p>
          <a:p xmlns:a="http://schemas.openxmlformats.org/drawingml/2006/main">
            <a:r>
              <a:t>개발용과 최종 시험용은 화자 단위로 가릅니다.</a:t>
            </a:r>
            <a:endParaRPr/>
          </a:p>
          <a:p xmlns:a="http://schemas.openxmlformats.org/drawingml/2006/main">
            <a:r>
              <a:t>▸ 같은 목소리로 개발하고 채점하면 숫자가 부풀기 때문입니다.</a:t>
            </a:r>
            <a:endParaRPr/>
          </a:p>
          <a:p xmlns:a="http://schemas.openxmlformats.org/drawingml/2006/main">
            <a:r>
              <a:t>원음 접근은 제한하고, 평가가 끝나면 30일 안에 지웁니다.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정확도 하나로 끝내지 않습니다.</a:t>
            </a:r>
            <a:endParaRPr/>
          </a:p>
          <a:p xmlns:a="http://schemas.openxmlformats.org/drawingml/2006/main">
            <a:r>
              <a:t>자막은 문자 오류율과, 말이 끝나고 자막이 뜨기까지 걸리는 시간을 봅니다.</a:t>
            </a:r>
          </a:p>
          <a:p xmlns:a="http://schemas.openxmlformats.org/drawingml/2006/main">
            <a:r>
              <a:t>중앙값만 쓰면 최악이 가려지니 상위 5퍼센트도 같이 냅니다.</a:t>
            </a:r>
          </a:p>
          <a:p xmlns:a="http://schemas.openxmlformats.org/drawingml/2006/main">
            <a:r>
              <a:t>음성 합성은 이름과 숫자 오류를 건별로 공개합니다.</a:t>
            </a:r>
            <a:endParaRPr/>
          </a:p>
          <a:p xmlns:a="http://schemas.openxmlformats.org/drawingml/2006/main">
            <a:r>
              <a:t>방향 추정은 확정 건만 세면 유리해 보이니 전체 일치율을 같이 냅니다.</a:t>
            </a:r>
            <a:endParaRPr/>
          </a:p>
          <a:p xmlns:a="http://schemas.openxmlformats.org/drawingml/2006/main">
            <a:r>
              <a:t>이 표의 숫자는 전부 본선 목표값입니다. 지금 낸 성능이 아닙니다.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실험실에서 하고 싶은 일은 구체적입니다.</a:t>
            </a:r>
          </a:p>
          <a:p xmlns:a="http://schemas.openxmlformats.org/drawingml/2006/main">
            <a:r>
              <a:t>바이브코딩으로는 방금 말씀드린 재시작과 중복 자막 오류를 재현하고 고칩니다.</a:t>
            </a:r>
            <a:endParaRPr/>
          </a:p>
          <a:p xmlns:a="http://schemas.openxmlformats.org/drawingml/2006/main">
            <a:r>
              <a:t>클라우드 자원에서는 STT 엔진을 같은 조건에 올려 비교합니다.</a:t>
            </a:r>
            <a:endParaRPr/>
          </a:p>
          <a:p xmlns:a="http://schemas.openxmlformats.org/drawingml/2006/main">
            <a:r>
              <a:t>쓴 프롬프트와 바뀐 코드, 시험 결과를 같이 남기겠습니다.</a:t>
            </a:r>
            <a:endParaRPr/>
          </a:p>
          <a:p xmlns:a="http://schemas.openxmlformats.org/drawingml/2006/main">
            <a:r>
              <a:t>▸ 세부 도구와 사용량은 제공 목록을 확인한 뒤 정하겠습니다.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프롬프트도 막연하게 쓰지 않습니다.</a:t>
            </a:r>
            <a:endParaRPr/>
          </a:p>
          <a:p xmlns:a="http://schemas.openxmlformats.org/drawingml/2006/main">
            <a:r>
              <a:t>인식을 멈춘 직후 이전 콜백이 늦게 도착하는 상황을 그대로 재현해 달라고 씁니다.</a:t>
            </a:r>
          </a:p>
          <a:p xmlns:a="http://schemas.openxmlformats.org/drawingml/2006/main">
            <a:r>
              <a:t>자막 공백을 찾을 때는, 못 들은 문장을 추측해서 채우지 말라고 못 박습니다.</a:t>
            </a:r>
          </a:p>
          <a:p xmlns:a="http://schemas.openxmlformats.org/drawingml/2006/main">
            <a:r>
              <a:t>나온 코드는 제가 읽고 다시 시험합니다.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처음 들어갈 곳은 취업지원 소그룹 상담, 그리고 장애인 고용 사업장의 팀 회의입니다.</a:t>
            </a:r>
            <a:endParaRPr/>
          </a:p>
          <a:p xmlns:a="http://schemas.openxmlformats.org/drawingml/2006/main">
            <a:r>
              <a:t>볼 것은 두 가지입니다.</a:t>
            </a:r>
          </a:p>
          <a:p xmlns:a="http://schemas.openxmlformats.org/drawingml/2006/main">
            <a:r>
              <a:t>질문과 의견을 실제로 전달했는가, 다시 묻는 부담이 줄었는가.</a:t>
            </a:r>
          </a:p>
          <a:p xmlns:a="http://schemas.openxmlformats.org/drawingml/2006/main">
            <a:r>
              <a:t>기관 담당자 인터뷰로 재사용 의향을 확인합니다.</a:t>
            </a:r>
            <a:endParaRPr/>
          </a:p>
          <a:p xmlns:a="http://schemas.openxmlformats.org/drawingml/2006/main">
            <a:r>
              <a:t>가격은 그다음입니다.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대본]</a:t>
            </a:r>
          </a:p>
          <a:p xmlns:a="http://schemas.openxmlformats.org/drawingml/2006/main">
            <a:r>
              <a:t>마지막으로 실제 사용 장면을 80초 회의 시나리오로 보여드리겠습니다.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[회의 시연 시작 버튼]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진행자가 상담 일정을 꺼내고, 두 참석자가 겹쳐 말합니다.</a:t>
            </a:r>
            <a:endParaRPr/>
          </a:p>
          <a:p xmlns:a="http://schemas.openxmlformats.org/drawingml/2006/main">
            <a:r>
              <a:t>보이스아이는 두 문장을 나눠 보여 주고 확인이 필요한 구간을 표시합니다.</a:t>
            </a:r>
            <a:endParaRPr/>
          </a:p>
          <a:p xmlns:a="http://schemas.openxmlformats.org/drawingml/2006/main">
            <a:r>
              <a:t>청각장애인 참석자는 자기 문장을 비공개로 작성하고, 확인한 뒤 스피커로 전달합니다.</a:t>
            </a:r>
            <a:endParaRPr/>
          </a:p>
          <a:p xmlns:a="http://schemas.openxmlformats.org/drawingml/2006/main">
            <a:r>
              <a:t>회의는 결정 내용을 함께 확인하며 끝납니다.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[시연 종료]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화면과 음성은 발표용 대본으로 움직입니다. 실제 마이크 정확도를 보여 주는 시연은 아닙니다.</a:t>
            </a:r>
            <a:endParaRPr/>
          </a:p>
          <a:p xmlns:a="http://schemas.openxmlformats.org/drawingml/2006/main">
            <a:r>
              <a:t>현재 코드는 STT와 TTS 회귀시험 16개를 통과했지만, 실제 회의 인식률과 지연은 아직 측정하지 않았습니다.</a:t>
            </a:r>
            <a:endParaRPr/>
          </a:p>
          <a:p xmlns:a="http://schemas.openxmlformats.org/drawingml/2006/main">
            <a:r>
              <a:t>본선에서는 그 수치를 조건별로 검증하겠습니다.</a:t>
            </a:r>
            <a:endParaRPr/>
          </a:p>
          <a:p xmlns:a="http://schemas.openxmlformats.org/drawingml/2006/main">
            <a:r>
              <a:t>감사합니다.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1cbb7dff545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36b029eb748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254a8d76746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3a53186e04a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85df428564d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07d7f4e6b483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2d3decdbd43e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a26b41615474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a7855c099499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0364fb40d41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26ba89f754a3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49d7456d7452f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84D511-5C1C-47AB-A975-2DBB7658C6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F0BBEEB-0A63-4108-8EED-D94857A6EE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FCEDE5-C115-4968-BF48-7481CC34D2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DED96A-2299-42C9-AD8B-36B2A3D8603B}" type="datetimeFigureOut">
              <a:t>2026-09-14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78F00F-4B69-405B-9EDA-B1B29866D9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8B3612-7C7C-4077-A5D6-BEB6E4960A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D92F41-C2F8-48CA-9C25-8907F87EE8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968362-2857-4D63-9271-4890906A46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C86212-F43C-4820-AD32-1D8C2D07EC5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E4B287-186B-4200-B01E-337F19181E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DED96A-2299-42C9-AD8B-36B2A3D8603B}" type="datetimeFigureOut">
              <a:t>2026-09-14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192DE5-2562-4D67-867B-D10E49638B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F088FD-0809-40AE-8AA0-155CB405FE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D92F41-C2F8-48CA-9C25-8907F87EE8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FCFF87-88B1-431F-A082-3E87A7E24A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1D41A9F-D207-4308-881F-16E875D04F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AE6969-4D00-49B1-ADE0-D370E593EA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DED96A-2299-42C9-AD8B-36B2A3D8603B}" type="datetimeFigureOut">
              <a:t>2026-09-14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7C5DB8-7407-4AA0-AA19-C04CF56FE6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759443-3ED5-4059-A922-1F0341E446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D92F41-C2F8-48CA-9C25-8907F87EE8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4DBD35-C375-44B1-8263-5CC4316EC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9E825D-3D10-4BF0-955B-2D7FC0D97B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40684DA-A011-4BF3-B96A-679F6D03CF9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0F9F370-0EF6-4134-8D5F-85EE258296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DED96A-2299-42C9-AD8B-36B2A3D8603B}" type="datetimeFigureOut">
              <a:t>2026-09-14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DD0DDD2-9CCD-43D2-B2A7-03AD311425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79EB62A-2504-4704-95A1-698716D341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D92F41-C2F8-48CA-9C25-8907F87EE8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FBC04E-577A-44EF-9B2B-083EBB1B0A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CB15A9-60CD-4D61-8B3F-A3BB198768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1B1F80B-F80D-4E8E-82C0-7B60AF445E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CBA34F9-176F-4CE8-B1C6-5355F5F76DB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C1009B6-BBBF-4501-AEC2-82ED23F06A0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CE3ABEE-999D-4E3A-971E-EB1DE7F125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DED96A-2299-42C9-AD8B-36B2A3D8603B}" type="datetimeFigureOut">
              <a:t>2026-09-14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F564D84-B8CF-48F2-9EE1-1B8BD5CCC2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605A65D-6C2E-4BCF-A40D-6F28AAEB8C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D92F41-C2F8-48CA-9C25-8907F87EE8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B9B53C-DA60-40C3-B029-A07FC58FE0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EF75D00-D5FA-403D-9A6B-38908E9971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DED96A-2299-42C9-AD8B-36B2A3D8603B}" type="datetimeFigureOut">
              <a:t>2026-09-14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25D5EAC-8CF4-48D7-9163-D6485A688D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921C993-011D-42CB-98F6-F661822603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D92F41-C2F8-48CA-9C25-8907F87EE8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01884EE-1F23-4DB1-A1DB-E11F6DA603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DED96A-2299-42C9-AD8B-36B2A3D8603B}" type="datetimeFigureOut">
              <a:t>2026-09-14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9B8F0C3-3E5A-4F3C-8FA4-84C50E40B8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E08C39A-5B12-42B3-B017-D49A3EF7FA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D92F41-C2F8-48CA-9C25-8907F87EE8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264F71-37C3-4C5C-B0BC-3B193EECA4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DDAA3E-1C88-4358-868D-2D220E2950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2B8A5C2-B522-4617-8104-865EF9A9AA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592BF2B-F942-4FFC-A600-3B51DE5570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DED96A-2299-42C9-AD8B-36B2A3D8603B}" type="datetimeFigureOut">
              <a:t>2026-09-14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F8A39B6-17E4-436A-98ED-5D26D9A656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1810145-12D2-4014-87B7-A4B358C7D5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D92F41-C2F8-48CA-9C25-8907F87EE8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E62AB8-56D0-41BC-9BCD-B756D10311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4D8A0D6-A2AA-4343-A05F-5514CEBDF14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90B3BF3-3DEA-43A2-9926-3FF3F14416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F0E3926-0B3A-4BA5-9BB7-7902097F46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DED96A-2299-42C9-AD8B-36B2A3D8603B}" type="datetimeFigureOut">
              <a:t>2026-09-14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070108E-9939-4188-8462-64174B491E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3A6925F-02E2-416E-A18E-A28D0A60B9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D92F41-C2F8-48CA-9C25-8907F87EE8DE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A34C86-C524-4142-88E9-BBFB173866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C69ECC-4234-4407-8A36-B48BCADAD8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A1FD21-18AE-4F2B-AA36-5FD8F428D3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DED96A-2299-42C9-AD8B-36B2A3D8603B}" type="datetimeFigureOut">
              <a:t>2026-09-14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657C0D-0110-45A7-97F2-29C369CD9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C2000B-E71C-4B78-A3E6-52200A815B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D92F41-C2F8-48CA-9C25-8907F87EE8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4C3CDEA-6A9E-4FFA-A16B-80B6FB51E2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6896B9-7EA1-4926-B03B-363A99D7D4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486418-8F1E-4971-B5E7-D25989473B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DED96A-2299-42C9-AD8B-36B2A3D8603B}" type="datetimeFigureOut">
              <a:t>2026-09-14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D6598B-EE31-4EB5-81E0-B23852002B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061843A-7E86-4E19-BC92-64F749EAA8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D92F41-C2F8-48CA-9C25-8907F87EE8DE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61dfca5f7ac4436" /><Relationship Type="http://schemas.openxmlformats.org/officeDocument/2006/relationships/image" Target="/ppt/media/image.svg" Id="Rdfc07c7cfc644fb2" /><Relationship Type="http://schemas.openxmlformats.org/officeDocument/2006/relationships/image" Target="/ppt/media/image2.png" Id="Rfffdd9cffb2f4508" /><Relationship Type="http://schemas.openxmlformats.org/officeDocument/2006/relationships/image" Target="/ppt/media/image2.svg" Id="R2a6e6040c8da4b24" /><Relationship Type="http://schemas.openxmlformats.org/officeDocument/2006/relationships/image" Target="/ppt/media/image3.png" Id="R421c38df54ed46d2" /><Relationship Type="http://schemas.openxmlformats.org/officeDocument/2006/relationships/image" Target="/ppt/media/image4.png" Id="R3b1ffb439d3948f6" /><Relationship Type="http://schemas.openxmlformats.org/officeDocument/2006/relationships/theme" Target="/ppt/slideMasters/theme/theme2.xml" Id="R09138a9db1184af5" /><Relationship Type="http://schemas.openxmlformats.org/officeDocument/2006/relationships/slideLayout" Target="/ppt/slideLayouts/slideLayout1.xml" Id="R396c4fa812e64191" /><Relationship Type="http://schemas.openxmlformats.org/officeDocument/2006/relationships/slideLayout" Target="/ppt/slideLayouts/slideLayout2.xml" Id="Rfdfd038ac9104dde" /><Relationship Type="http://schemas.openxmlformats.org/officeDocument/2006/relationships/slideLayout" Target="/ppt/slideLayouts/slideLayout3.xml" Id="R668e525992014de2" /><Relationship Type="http://schemas.openxmlformats.org/officeDocument/2006/relationships/slideLayout" Target="/ppt/slideLayouts/slideLayout4.xml" Id="R475d4132870f41a8" /><Relationship Type="http://schemas.openxmlformats.org/officeDocument/2006/relationships/slideLayout" Target="/ppt/slideLayouts/slideLayout5.xml" Id="Rb626c92ff2764f64" /><Relationship Type="http://schemas.openxmlformats.org/officeDocument/2006/relationships/slideLayout" Target="/ppt/slideLayouts/slideLayout6.xml" Id="Raa3654b89ed1405d" /><Relationship Type="http://schemas.openxmlformats.org/officeDocument/2006/relationships/slideLayout" Target="/ppt/slideLayouts/slideLayout7.xml" Id="R51d4583fb58d4b24" /><Relationship Type="http://schemas.openxmlformats.org/officeDocument/2006/relationships/slideLayout" Target="/ppt/slideLayouts/slideLayout8.xml" Id="Rc7c85e5321ee4871" /><Relationship Type="http://schemas.openxmlformats.org/officeDocument/2006/relationships/slideLayout" Target="/ppt/slideLayouts/slideLayout9.xml" Id="R22fa9c8b7f1a4534" /><Relationship Type="http://schemas.openxmlformats.org/officeDocument/2006/relationships/slideLayout" Target="/ppt/slideLayouts/slideLayout10.xml" Id="R9e2a1f088f524468" /><Relationship Type="http://schemas.openxmlformats.org/officeDocument/2006/relationships/slideLayout" Target="/ppt/slideLayouts/slideLayout11.xml" Id="R0da472a17dd74cd8" /><Relationship Type="http://schemas.openxmlformats.org/officeDocument/2006/relationships/slideLayout" Target="/ppt/slideLayouts/slideLayout12.xml" Id="R5e93158f5f20436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73E3110-92D8-5131-8B79-F39B9F56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43324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36D92F41-C2F8-48CA-9C25-8907F87EE8DE}" type="slidenum">
              <a:rPr sz="1000"/>
              <a:t>‹#›</a:t>
            </a:fld>
            <a:endParaRPr sz="1000"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5B7384F-7FF7-E053-553F-8AB647D1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236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그래픽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dfca5f7ac4436">
            <a:extLst>
              <a:ext uri="{96DAC541-7B7A-43D3-8B79-37D633B846F1}">
                <asvg:svgBlip xmlns:asvg="http://schemas.microsoft.com/office/drawing/2016/SVG/main" r:embed="Rdfc07c7cfc644fb2"/>
              </a:ext>
            </a:extLst>
          </a:blip>
          <a:srcRect xmlns:a="http://schemas.openxmlformats.org/drawingml/2006/main" l="0" t="0" r="53485" b="6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1" y="536230"/>
            <a:ext cx="1532163" cy="247540"/>
          </a:xfrm>
          <a:prstGeom xmlns:a="http://schemas.openxmlformats.org/drawingml/2006/main" prst="rect">
            <a:avLst/>
          </a:prstGeom>
        </p:spPr>
      </p:pic>
      <p:pic>
        <p:nvPicPr>
          <p:cNvPr id="22" name="그래픽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dd9cffb2f4508">
            <a:extLst>
              <a:ext uri="{96DAC541-7B7A-43D3-8B79-37D633B846F1}">
                <asvg:svgBlip xmlns:asvg="http://schemas.microsoft.com/office/drawing/2016/SVG/main" r:embed="R2a6e6040c8da4b2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323109"/>
            <a:ext cx="1826470" cy="196277"/>
          </a:xfrm>
          <a:prstGeom xmlns:a="http://schemas.openxmlformats.org/drawingml/2006/main" prst="rect">
            <a:avLst/>
          </a:prstGeom>
        </p:spPr>
      </p:pic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C5D45FFA-C8D4-7295-5259-C25CD6C0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4691"/>
            <a:ext cx="12192000" cy="3925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4" name="그림 1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c38df54ed46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3272" y="6462822"/>
            <a:ext cx="3385457" cy="385942"/>
          </a:xfrm>
          <a:prstGeom xmlns:a="http://schemas.openxmlformats.org/drawingml/2006/main" prst="rect">
            <a:avLst/>
          </a:prstGeom>
        </p:spPr>
      </p:pic>
      <p:pic>
        <p:nvPicPr>
          <p:cNvPr id="25" name="그림 1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ffb439d3948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0385" y="152316"/>
            <a:ext cx="717889" cy="537861"/>
          </a:xfrm>
          <a:prstGeom xmlns:a="http://schemas.openxmlformats.org/drawingml/2006/main" prst="rect">
            <a:avLst/>
          </a:prstGeom>
        </p:spPr>
      </p:pic>
      <p:pic>
        <p:nvPicPr>
          <p:cNvPr id="26" name="그래픽 1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dfca5f7ac4436">
            <a:extLst>
              <a:ext uri="{96DAC541-7B7A-43D3-8B79-37D633B846F1}">
                <asvg:svgBlip xmlns:asvg="http://schemas.microsoft.com/office/drawing/2016/SVG/main" r:embed="Rdfc07c7cfc644fb2"/>
              </a:ext>
            </a:extLst>
          </a:blip>
          <a:srcRect xmlns:a="http://schemas.openxmlformats.org/drawingml/2006/main" l="46002" t="-856" r="-1451" b="-116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7221" y="541673"/>
            <a:ext cx="1826469" cy="29702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6c4fa812e64191"/>
    <p:sldLayoutId xmlns:r="http://schemas.openxmlformats.org/officeDocument/2006/relationships" id="2147483650" r:id="Rfdfd038ac9104dde"/>
    <p:sldLayoutId xmlns:r="http://schemas.openxmlformats.org/officeDocument/2006/relationships" id="2147483651" r:id="R668e525992014de2"/>
    <p:sldLayoutId xmlns:r="http://schemas.openxmlformats.org/officeDocument/2006/relationships" id="2147483652" r:id="R475d4132870f41a8"/>
    <p:sldLayoutId xmlns:r="http://schemas.openxmlformats.org/officeDocument/2006/relationships" id="2147483653" r:id="Rb626c92ff2764f64"/>
    <p:sldLayoutId xmlns:r="http://schemas.openxmlformats.org/officeDocument/2006/relationships" id="2147483654" r:id="Raa3654b89ed1405d"/>
    <p:sldLayoutId xmlns:r="http://schemas.openxmlformats.org/officeDocument/2006/relationships" id="2147483655" r:id="R51d4583fb58d4b24"/>
    <p:sldLayoutId xmlns:r="http://schemas.openxmlformats.org/officeDocument/2006/relationships" id="2147483656" r:id="Rc7c85e5321ee4871"/>
    <p:sldLayoutId xmlns:r="http://schemas.openxmlformats.org/officeDocument/2006/relationships" id="2147483657" r:id="R22fa9c8b7f1a4534"/>
    <p:sldLayoutId xmlns:r="http://schemas.openxmlformats.org/officeDocument/2006/relationships" id="2147483658" r:id="R9e2a1f088f524468"/>
    <p:sldLayoutId xmlns:r="http://schemas.openxmlformats.org/officeDocument/2006/relationships" id="2147483659" r:id="R0da472a17dd74cd8"/>
    <p:sldLayoutId xmlns:r="http://schemas.openxmlformats.org/officeDocument/2006/relationships" id="2147483660" r:id="R5e93158f5f20436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84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Malgun Gothi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Malgun Gothi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1df07a2f0b42c0" /><Relationship Type="http://schemas.openxmlformats.org/officeDocument/2006/relationships/image" Target="/ppt/media/image.jpeg" Id="R633ea66eb29a49e4" /><Relationship Type="http://schemas.openxmlformats.org/officeDocument/2006/relationships/image" Target="/ppt/media/image5.png" Id="R1c6b5455cb0e4e3d" /><Relationship Type="http://schemas.openxmlformats.org/officeDocument/2006/relationships/image" Target="/ppt/media/image3.svg" Id="Rbf6d722094074479" /><Relationship Type="http://schemas.openxmlformats.org/officeDocument/2006/relationships/image" Target="/ppt/media/image4.png" Id="R5add070993134f88" /><Relationship Type="http://schemas.openxmlformats.org/officeDocument/2006/relationships/notesSlide" Target="/ppt/notesSlides/notesSlide1.xml" Id="Rc6502e7aa7504d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dbf13e30f14cce" /><Relationship Type="http://schemas.openxmlformats.org/officeDocument/2006/relationships/image" Target="/ppt/media/image6.png" Id="R060c7a7994e8436c" /><Relationship Type="http://schemas.openxmlformats.org/officeDocument/2006/relationships/notesSlide" Target="/ppt/notesSlides/notesSlide2.xml" Id="Rccca85bf6a404a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fcc43541ad445e" /><Relationship Type="http://schemas.openxmlformats.org/officeDocument/2006/relationships/notesSlide" Target="/ppt/notesSlides/notesSlide3.xml" Id="Rd9facefd903748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54ebdf59c149b2" /><Relationship Type="http://schemas.openxmlformats.org/officeDocument/2006/relationships/image" Target="/ppt/media/image7.png" Id="Ra08beba7caf74e39" /><Relationship Type="http://schemas.openxmlformats.org/officeDocument/2006/relationships/notesSlide" Target="/ppt/notesSlides/notesSlide4.xml" Id="Rb011922596bf47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d01c3f06284a7d" /><Relationship Type="http://schemas.openxmlformats.org/officeDocument/2006/relationships/notesSlide" Target="/ppt/notesSlides/notesSlide5.xml" Id="R36df51ac780848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d045b9fd954257" /><Relationship Type="http://schemas.openxmlformats.org/officeDocument/2006/relationships/notesSlide" Target="/ppt/notesSlides/notesSlide6.xml" Id="R2d9afda845214d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a1ac19e18240a2" /><Relationship Type="http://schemas.openxmlformats.org/officeDocument/2006/relationships/image" Target="/ppt/media/image8.png" Id="R33aa1f8150dc4f8c" /><Relationship Type="http://schemas.openxmlformats.org/officeDocument/2006/relationships/notesSlide" Target="/ppt/notesSlides/notesSlide7.xml" Id="R67a918688c5143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202dd4c5fa4d01" /><Relationship Type="http://schemas.openxmlformats.org/officeDocument/2006/relationships/notesSlide" Target="/ppt/notesSlides/notesSlide8.xml" Id="R3495029f7a3149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ef715ea2584fde" /><Relationship Type="http://schemas.openxmlformats.org/officeDocument/2006/relationships/notesSlide" Target="/ppt/notesSlides/notesSlide9.xml" Id="Rbf83dec3c1bd49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66e258b7104614" /><Relationship Type="http://schemas.openxmlformats.org/officeDocument/2006/relationships/notesSlide" Target="/ppt/notesSlides/notesSlide10.xml" Id="R79c6a0c6c81741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4c87d409d04e55" /><Relationship Type="http://schemas.openxmlformats.org/officeDocument/2006/relationships/notesSlide" Target="/ppt/notesSlides/notesSlide11.xml" Id="Ra93f4dff05bd45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760a7396e44574" /><Relationship Type="http://schemas.openxmlformats.org/officeDocument/2006/relationships/chart" Target="/ppt/slides/charts/chart1.xml" Id="Rf73f570f5b4944e8" /><Relationship Type="http://schemas.openxmlformats.org/officeDocument/2006/relationships/notesSlide" Target="/ppt/notesSlides/notesSlide12.xml" Id="Ra6d3f93c3c9741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951a5e24b24d05" /><Relationship Type="http://schemas.openxmlformats.org/officeDocument/2006/relationships/notesSlide" Target="/ppt/notesSlides/notesSlide13.xml" Id="Re2652ef807374d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ec75d438d14c35" /><Relationship Type="http://schemas.openxmlformats.org/officeDocument/2006/relationships/notesSlide" Target="/ppt/notesSlides/notesSlide14.xml" Id="Rdb5450c5df2f42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8cf070871849d9" /><Relationship Type="http://schemas.openxmlformats.org/officeDocument/2006/relationships/notesSlide" Target="/ppt/notesSlides/notesSlide15.xml" Id="R9eae2b384e5a4f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3f0d0cb5b34d31" /><Relationship Type="http://schemas.openxmlformats.org/officeDocument/2006/relationships/notesSlide" Target="/ppt/notesSlides/notesSlide16.xml" Id="R80f4219de91648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2051eb080b4e65" /><Relationship Type="http://schemas.openxmlformats.org/officeDocument/2006/relationships/notesSlide" Target="/ppt/notesSlides/notesSlide17.xml" Id="R09b2c3fc431a42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021444b12149af" /><Relationship Type="http://schemas.openxmlformats.org/officeDocument/2006/relationships/notesSlide" Target="/ppt/notesSlides/notesSlide18.xml" Id="R334b7f2677ee47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4a89d31d2f4298" /><Relationship Type="http://schemas.openxmlformats.org/officeDocument/2006/relationships/notesSlide" Target="/ppt/notesSlides/notesSlide19.xml" Id="Recacf667c50b493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항목별 예산안 (만원)</a:t>
            </a:r>
          </a:p>
        </c:rich>
      </c:tx>
      <c:overlay val="0"/>
    </c:title>
    <c:plotArea>
      <c:barChart>
        <c:barDir val="bar"/>
        <c:grouping val="clustered"/>
        <c:varyColors val="0"/>
        <c:ser>
          <c:idx val="0"/>
          <c:order val="0"/>
          <c:tx>
            <c:v>예산</c:v>
          </c:tx>
          <c:spPr>
            <a:solidFill xmlns:a="http://schemas.openxmlformats.org/drawingml/2006/main">
              <a:srgbClr val="1E5C56"/>
            </a:solidFill>
          </c:spPr>
          <c:cat>
            <c:strRef>
              <c:f>'Chart Data'!$A$2:$A$6</c:f>
              <c:strCache>
                <c:ptCount val="5"/>
                <c:pt idx="0">
                  <c:v>장비</c:v>
                </c:pt>
                <c:pt idx="1">
                  <c:v>참여자</c:v>
                </c:pt>
                <c:pt idx="2">
                  <c:v>외부 주석</c:v>
                </c:pt>
                <c:pt idx="3">
                  <c:v>자문</c:v>
                </c:pt>
                <c:pt idx="4">
                  <c:v>교통·소모품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15</c:v>
                </c:pt>
                <c:pt idx="1">
                  <c:v>33</c:v>
                </c:pt>
                <c:pt idx="2">
                  <c:v>16</c:v>
                </c:pt>
                <c:pt idx="3">
                  <c:v>20</c:v>
                </c:pt>
                <c:pt idx="4">
                  <c:v>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ea66eb29a49e4"/>
          <a:srcRect xmlns:a="http://schemas.openxmlformats.org/drawingml/2006/main" l="0" t="-196" r="0" b="80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285781"/>
          </a:xfrm>
          <a:prstGeom xmlns:a="http://schemas.openxmlformats.org/drawingml/2006/main" prst="rect">
            <a:avLst/>
          </a:prstGeom>
        </p:spPr>
      </p:pic>
      <p:pic>
        <p:nvPicPr>
          <p:cNvPr id="34" name="그래픽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b5455cb0e4e3d">
            <a:extLst>
              <a:ext uri="{96DAC541-7B7A-43D3-8B79-37D633B846F1}">
                <asvg:svgBlip xmlns:asvg="http://schemas.microsoft.com/office/drawing/2016/SVG/main" r:embed="Rbf6d72209407447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453" y="374505"/>
            <a:ext cx="4008293" cy="1611177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1162425-1519-AC0C-BFE2-DB195958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67325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참가권역 : 충청권   팀명 : VoiceEye Lab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팀원이름 : 이종현</a:t>
            </a:r>
            <a:endParaRPr sz="240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685BE17-BA08-119F-8298-60B84379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14625"/>
            <a:ext cx="5619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</a:t>
            </a:r>
          </a:p>
          <a:p xmlns:a="http://schemas.openxmlformats.org/drawingml/2006/main">
            <a:pPr>
              <a:buNone/>
              <a:def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VoiceEye</a:t>
            </a:r>
          </a:p>
        </p:txBody>
      </p:sp>
      <p:pic>
        <p:nvPicPr>
          <p:cNvPr id="37" name="그림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d070993134f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9511" y="178157"/>
            <a:ext cx="1166890" cy="874265"/>
          </a:xfrm>
          <a:prstGeom xmlns:a="http://schemas.openxmlformats.org/drawingml/2006/main" prst="rect">
            <a:avLst/>
          </a:prstGeom>
        </p:spPr>
      </p:pic>
      <p:sp>
        <p:nvSpPr>
          <p:cNvPr id="29" name="청각장애인을 위한&#10;회의 접근성 서비스">
            <a:extLst xmlns:a="http://schemas.openxmlformats.org/drawingml/2006/main">
              <a:ext uri="{FF2B5EF4-FFF2-40B4-BE49-F238E27FC236}">
                <a16:creationId xmlns:a16="http://schemas.microsoft.com/office/drawing/2014/main" id="{804BECEE-C248-4FCA-A675-145646F7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청각장애인을 위한</a:t>
            </a:r>
          </a:p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회의 접근성 서비스</a:t>
            </a:r>
          </a:p>
        </p:txBody>
      </p:sp>
    </p:spTree>
    <p:extLst>
      <p:ext uri="{BB962C8B-B14F-4D97-AF65-F5344CB8AC3E}">
        <p14:creationId xmlns:p14="http://schemas.microsoft.com/office/powerpoint/2010/main" val="36516079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99111D9-37B3-25EE-3D2E-AC7F830C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312BC08-52C9-3DC7-2BCD-E89F28D2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90A75EFB-AFC3-DCCB-6FE8-2DC3A3CC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21" y="2216276"/>
            <a:ext cx="10814148" cy="793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7145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  <a:r>
              <a:rPr sz="24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24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회의 접근성 서비스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6CF2342-F27F-C0BF-C410-05B0E9B2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21" y="1666733"/>
            <a:ext cx="240803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+mn-ea"/>
                <a:ea typeface="+mn-ea"/>
                <a:cs typeface="+mn-ea"/>
              </a:rPr>
              <a:t>① 아이디어/서비스명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08E6C1A0-3912-86FE-6A0A-23DE80D3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21" y="3685741"/>
            <a:ext cx="10814148" cy="22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B9529ED-0B25-432F-E831-89D9E683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21" y="3136198"/>
            <a:ext cx="326403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+mn-ea"/>
                <a:ea typeface="+mn-ea"/>
                <a:cs typeface="+mn-ea"/>
              </a:rPr>
              <a:t>② 아이디어/서비스 요약 설명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B5E1D35-C59B-F55A-ED91-31AA4BFB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167131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1. 개요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C3423D20-118D-4C33-AECF-19C87CAD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청각장애인이 소규모 대면회의에서 대화를 읽고,&#10;입력한 문장을 음성으로 전">
            <a:extLst xmlns:a="http://schemas.openxmlformats.org/drawingml/2006/main">
              <a:ext uri="{FF2B5EF4-FFF2-40B4-BE49-F238E27FC236}">
                <a16:creationId xmlns:a16="http://schemas.microsoft.com/office/drawing/2014/main" id="{5C58A02C-3776-4037-BB8F-6D26DA31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7239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청각장애인이 소규모 대면회의에서 대화를 읽고,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입력한 문장을 음성으로 전달하도록 돕습니다.</a:t>
            </a:r>
          </a:p>
          <a:p xmlns:a="http://schemas.openxmlformats.org/drawingml/2006/main">
            <a:endParaRPr sz="1875" b="0">
              <a:solidFill>
                <a:srgbClr val="161616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공유 자막 · 확인 후 음성 발언 · 익명 좌석 표시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자막이 빠진 구간을 찾아 다시 확인</a:t>
            </a:r>
          </a:p>
        </p:txBody>
      </p:sp>
      <p:pic>
        <p:nvPicPr>
          <p:cNvPr id="24" name="그림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c7a7994e8436c"/>
          <a:stretch xmlns:a="http://schemas.openxmlformats.org/drawingml/2006/main"/>
        </p:blipFill>
        <p:spPr>
          <a:xfrm xmlns:a="http://schemas.openxmlformats.org/drawingml/2006/main">
            <a:off x="8172450" y="3867913"/>
            <a:ext cx="2857500" cy="1608198"/>
          </a:xfrm>
          <a:prstGeom xmlns:a="http://schemas.openxmlformats.org/drawingml/2006/main" prst="rect">
            <a:avLst/>
          </a:prstGeom>
        </p:spPr>
      </p:pic>
      <p:sp>
        <p:nvSpPr>
          <p:cNvPr id="13" name="제품 구상도 · 실물 제작 전">
            <a:extLst xmlns:a="http://schemas.openxmlformats.org/drawingml/2006/main">
              <a:ext uri="{FF2B5EF4-FFF2-40B4-BE49-F238E27FC236}">
                <a16:creationId xmlns:a16="http://schemas.microsoft.com/office/drawing/2014/main" id="{9A7ADA1F-2B17-4988-A6FC-83A366E7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530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제품 구상도 · 실물 제작 전</a:t>
            </a:r>
          </a:p>
        </p:txBody>
      </p:sp>
    </p:spTree>
    <p:extLst>
      <p:ext uri="{BB962C8B-B14F-4D97-AF65-F5344CB8AC3E}">
        <p14:creationId xmlns:p14="http://schemas.microsoft.com/office/powerpoint/2010/main" val="8393106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16265C0E-A774-3382-319D-7F28E792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6D6E776-BBBF-42E6-4A9B-D27EF7D3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9" y="1666733"/>
            <a:ext cx="220925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+mn-ea"/>
                <a:ea typeface="+mn-ea"/>
                <a:cs typeface="+mn-ea"/>
              </a:rPr>
              <a:t>③ 팀 구성 및 역할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161EF5B-5B49-8632-C84E-441F8536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167131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1. 개요</a:t>
            </a:r>
          </a:p>
        </p:txBody>
      </p:sp>
      <p:graphicFrame>
        <p:nvGraphicFramePr>
          <p:cNvPr id="22" name="표 13"/>
          <p:cNvGraphicFramePr/>
          <p:nvPr/>
        </p:nvGraphicFramePr>
        <p:xfrm>
          <a:off xmlns:a="http://schemas.openxmlformats.org/drawingml/2006/main" x="373805" y="2188176"/>
          <a:ext xmlns:a="http://schemas.openxmlformats.org/drawingml/2006/main" cx="11397281" cy="1524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498487"/>
                <a:gridCol w="2323652"/>
                <a:gridCol w="6575142"/>
              </a:tblGrid>
              <a:tr h="76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75000"/>
                        <a:alpha val="2509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75000"/>
                        <a:alpha val="2509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세부 내용</a:t>
                      </a:r>
                      <a:endParaRPr sz="1400" b="1" kern="1200">
                        <a:solidFill>
                          <a:schemeClr val="tx1"/>
                        </a:solidFill>
                        <a:latin typeface="나눔고딕 ExtraBold"/>
                        <a:ea typeface="나눔고딕 ExtraBold"/>
                        <a:cs typeface="나눔고딕 ExtraBold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75000"/>
                        <a:alpha val="25098"/>
                      </a:schemeClr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이종현</a:t>
                      </a:r>
                      <a:endParaRPr sz="1200">
                        <a:latin typeface="나눔고딕 ExtraBold"/>
                        <a:ea typeface="나눔고딕 ExtraBold"/>
                        <a:cs typeface="나눔고딕 ExtraBold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 i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 · 1인 참가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5580" marR="0" lvl="0" indent="-19558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75" b="0" i="0" u="none" cap="none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기획 · React 개발 · 화면 디자인</a:t>
                      </a:r>
                      <a:endParaRPr sz="1200" i="0">
                        <a:latin typeface="나눔고딕 ExtraBold"/>
                        <a:ea typeface="나눔고딕 ExtraBold"/>
                        <a:cs typeface="나눔고딕 ExtraBold"/>
                      </a:endParaRPr>
                    </a:p>
                    <a:p>
                      <a:pPr marL="195580" marR="0" lvl="0" indent="-19558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75" b="0" i="0" u="none" cap="none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수집·관리 · 시험 · 발표</a:t>
                      </a:r>
                      <a:endParaRPr sz="1200" i="0">
                        <a:latin typeface="나눔고딕 ExtraBold"/>
                        <a:ea typeface="나눔고딕 ExtraBold"/>
                        <a:cs typeface="나눔고딕 ExtraBold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DA70352-7573-9F80-DD05-084331AE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9" y="4663412"/>
            <a:ext cx="142058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+mn-ea"/>
                <a:ea typeface="+mn-ea"/>
                <a:cs typeface="+mn-ea"/>
              </a:rPr>
              <a:t>③ 참가팀명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9F6B8B2C-B12B-3DDD-217F-6712334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674" y="5261540"/>
            <a:ext cx="4500000" cy="7435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714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충청권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CAAA838-43E2-8B71-D72A-589AAFF1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7912B8-0A44-D075-FA70-28B7E02B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552" y="4663412"/>
            <a:ext cx="150233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+mn-ea"/>
                <a:ea typeface="+mn-ea"/>
                <a:cs typeface="+mn-ea"/>
              </a:rPr>
              <a:t>③ 참가 권역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4C81499F-1073-F7B6-9A08-D3368572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73" y="5261541"/>
            <a:ext cx="6196027" cy="7435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714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VoiceEye Lab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16" name="03">
            <a:extLst xmlns:a="http://schemas.openxmlformats.org/drawingml/2006/main">
              <a:ext uri="{FF2B5EF4-FFF2-40B4-BE49-F238E27FC236}">
                <a16:creationId xmlns:a16="http://schemas.microsoft.com/office/drawing/2014/main" id="{828A351C-3315-4AF9-AEC6-8F61272E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필요한 자문: 음성 처리 전문가와 청각장애인 참여자 모집 예정&#10;개발 투입">
            <a:extLst xmlns:a="http://schemas.openxmlformats.org/drawingml/2006/main">
              <a:ext uri="{FF2B5EF4-FFF2-40B4-BE49-F238E27FC236}">
                <a16:creationId xmlns:a16="http://schemas.microsoft.com/office/drawing/2014/main" id="{773F48D0-DFEF-4314-91D7-036A7E8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05250"/>
            <a:ext cx="1085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필요한 자문: 음성 처리 전문가와 청각장애인 참여자 모집 예정</a:t>
            </a:r>
          </a:p>
          <a:p xmlns:a="http://schemas.openxmlformats.org/drawingml/2006/main">
            <a:pPr>
              <a:buNone/>
              <a:defRPr sz="17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개발 투입 가정: 주 20시간 × 12주 = 240시간 (모집·평가·발표 포함)</a:t>
            </a:r>
          </a:p>
        </p:txBody>
      </p:sp>
    </p:spTree>
    <p:extLst>
      <p:ext uri="{BB962C8B-B14F-4D97-AF65-F5344CB8AC3E}">
        <p14:creationId xmlns:p14="http://schemas.microsoft.com/office/powerpoint/2010/main" val="7791161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C7D30236-C039-E0B3-D0C6-CE23F6DC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E2FBCF-D96B-4D9A-38F6-280B7F41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2. 아이디어 제안배경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313AE7C-5DCD-BEC4-5347-593D6D6A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80" y="1553222"/>
            <a:ext cx="204575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 u="none" cap="none">
                <a:solidFill>
                  <a:srgbClr val="002060"/>
                </a:solidFill>
                <a:latin typeface="+mn-ea"/>
                <a:ea typeface="+mn-ea"/>
                <a:cs typeface="+mn-ea"/>
              </a:rPr>
              <a:t>① 현황 및 문제점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B5079ADB-C1DB-7E06-5556-13549BBF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9ACE64-FBBB-9CA3-96D5-89AEA8C1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FEC1D515-E6D7-49FF-BF68-0F886991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pic>
        <p:nvPicPr>
          <p:cNvPr id="27" name="그림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beba7caf74e39"/>
          <a:stretch xmlns:a="http://schemas.openxmlformats.org/drawingml/2006/main"/>
        </p:blipFill>
        <p:spPr>
          <a:xfrm xmlns:a="http://schemas.openxmlformats.org/drawingml/2006/main">
            <a:off x="571500" y="2202021"/>
            <a:ext cx="6238875" cy="3511233"/>
          </a:xfrm>
          <a:prstGeom xmlns:a="http://schemas.openxmlformats.org/drawingml/2006/main" prst="rect">
            <a:avLst/>
          </a:prstGeom>
        </p:spPr>
      </p:pic>
      <p:sp>
        <p:nvSpPr>
          <p:cNvPr id="17" name="대상: 문자 읽기와 키보드 입력을&#10;선호하는 청각장애인">
            <a:extLst xmlns:a="http://schemas.openxmlformats.org/drawingml/2006/main">
              <a:ext uri="{FF2B5EF4-FFF2-40B4-BE49-F238E27FC236}">
                <a16:creationId xmlns:a16="http://schemas.microsoft.com/office/drawing/2014/main" id="{8D594332-2172-4677-9064-980B342D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5742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대상: 문자 읽기와 키보드 입력을</a:t>
            </a:r>
          </a:p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선호하는 청각장애인</a:t>
            </a:r>
          </a:p>
        </p:txBody>
      </p:sp>
      <p:sp>
        <p:nvSpPr>
          <p:cNvPr id="18" name="말을 놓쳐도 다시 묻기 어려움&#10;&#10;여러 사람이 말하면 발언자 혼동&#10;&#10;문장을">
            <a:extLst xmlns:a="http://schemas.openxmlformats.org/drawingml/2006/main">
              <a:ext uri="{FF2B5EF4-FFF2-40B4-BE49-F238E27FC236}">
                <a16:creationId xmlns:a16="http://schemas.microsoft.com/office/drawing/2014/main" id="{BD3EAEAE-47F2-4890-B224-3B416E18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42672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말을 놓쳐도 다시 묻기 어려움</a:t>
            </a:r>
          </a:p>
          <a:p xmlns:a="http://schemas.openxmlformats.org/drawingml/2006/main">
            <a:endParaRPr sz="1875" b="0">
              <a:solidFill>
                <a:srgbClr val="161616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여러 사람이 말하면 발언자 혼동</a:t>
            </a:r>
          </a:p>
          <a:p xmlns:a="http://schemas.openxmlformats.org/drawingml/2006/main">
            <a:endParaRPr sz="1875" b="0">
              <a:solidFill>
                <a:srgbClr val="161616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문장을 입력하는 동안 대화가 진행됨</a:t>
            </a:r>
          </a:p>
        </p:txBody>
      </p:sp>
      <p:sp>
        <p:nvSpPr>
          <p:cNvPr id="19" name="사용 장면 구상도. 4~6명, 15분 회의 가정이며 실제 실증 사진이 아">
            <a:extLst xmlns:a="http://schemas.openxmlformats.org/drawingml/2006/main">
              <a:ext uri="{FF2B5EF4-FFF2-40B4-BE49-F238E27FC236}">
                <a16:creationId xmlns:a16="http://schemas.microsoft.com/office/drawing/2014/main" id="{D5B678E2-8D72-45FB-80AF-16A3A861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사용 장면 구상도. 4~6명, 15분 회의 가정이며 실제 실증 사진이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3206633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D0E77A36-23AD-9DB7-55A1-08B0572E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5C8DA10-219B-0861-3FD3-DD4A7DB3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2. 아이디어 제안배경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9173A4-6AE9-82B3-5AA4-D21248E2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80" y="1553222"/>
            <a:ext cx="181492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 u="none" cap="none">
                <a:solidFill>
                  <a:srgbClr val="002060"/>
                </a:solidFill>
                <a:latin typeface="+mn-ea"/>
                <a:ea typeface="+mn-ea"/>
                <a:cs typeface="+mn-ea"/>
              </a:rPr>
              <a:t> ② 제안 필요성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295DF04E-C0DF-91A2-6802-C2EC1E64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7FCDC6D-422A-DA37-D0D5-7F9D6824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5" name="05">
            <a:extLst xmlns:a="http://schemas.openxmlformats.org/drawingml/2006/main">
              <a:ext uri="{FF2B5EF4-FFF2-40B4-BE49-F238E27FC236}">
                <a16:creationId xmlns:a16="http://schemas.microsoft.com/office/drawing/2014/main" id="{A75CFA1B-F5D6-4441-BF91-8EFCE657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26" name="표 24"/>
          <p:cNvGraphicFramePr/>
          <p:nvPr/>
        </p:nvGraphicFramePr>
        <p:xfrm>
          <a:off xmlns:a="http://schemas.openxmlformats.org/drawingml/2006/main" x="561975" y="2181225"/>
          <a:ext xmlns:a="http://schemas.openxmlformats.org/drawingml/2006/main" cx="11068050" cy="2543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743325"/>
                <a:gridCol w="4848225"/>
              </a:tblGrid>
              <a:tr h="6357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방식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역할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보이스아이에서 확인할 점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수어·문자통역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통역사의 의사소통 지원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통역 중 재질문과 입력 발언 보조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자막·회의록 서비스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실시간 자막과 기록 열람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중 놓친 구간을 다시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VUEVO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 자막·입력 발언·음성 읽기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회의에서 자막 공백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자막 공백 표시가 회의 중 재확인에 도움이 되는지 시험합니다.">
            <a:extLst xmlns:a="http://schemas.openxmlformats.org/drawingml/2006/main">
              <a:ext uri="{FF2B5EF4-FFF2-40B4-BE49-F238E27FC236}">
                <a16:creationId xmlns:a16="http://schemas.microsoft.com/office/drawing/2014/main" id="{F116404C-5496-4D63-8E53-1E238DB6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33950"/>
            <a:ext cx="1100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자막 공백 표시가 회의 중 재확인에 도움이 되는지 시험합니다.</a:t>
            </a:r>
          </a:p>
        </p:txBody>
      </p:sp>
      <p:sp>
        <p:nvSpPr>
          <p:cNvPr id="18" name="기본 자막과 비교해 내용 확인·발언 성공, 재질문 부담을 평가합니다.&#10;입">
            <a:extLst xmlns:a="http://schemas.openxmlformats.org/drawingml/2006/main">
              <a:ext uri="{FF2B5EF4-FFF2-40B4-BE49-F238E27FC236}">
                <a16:creationId xmlns:a16="http://schemas.microsoft.com/office/drawing/2014/main" id="{FB1C147A-4931-4E3B-8A94-2DAE775F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3340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기본 자막과 비교해 내용 확인·발언 성공, 재질문 부담을 평가합니다.</a:t>
            </a:r>
          </a:p>
          <a:p xmlns:a="http://schemas.openxmlformats.org/drawingml/2006/main">
            <a:pPr>
              <a:buNone/>
              <a:defRPr sz="17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입력 발언·음성 읽기는 기존 서비스도 제공합니다. 수어·문자통역을 보완합니다.</a:t>
            </a:r>
          </a:p>
        </p:txBody>
      </p:sp>
    </p:spTree>
    <p:extLst>
      <p:ext uri="{BB962C8B-B14F-4D97-AF65-F5344CB8AC3E}">
        <p14:creationId xmlns:p14="http://schemas.microsoft.com/office/powerpoint/2010/main" val="13599627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426F3E5-F3D6-27DB-285D-27267475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ACABDD-A317-891E-1B94-2E7C8C8E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2. 아이디어 제안배경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83F0E9C-3996-A39E-0791-EFE6FF1F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80" y="1553222"/>
            <a:ext cx="213071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 u="none" cap="none">
                <a:solidFill>
                  <a:srgbClr val="002060"/>
                </a:solidFill>
                <a:latin typeface="+mn-ea"/>
                <a:ea typeface="+mn-ea"/>
                <a:cs typeface="+mn-ea"/>
              </a:rPr>
              <a:t> ③ AI 활용 필요성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8EB0AC1-5895-2D09-5B8E-5BDC66D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E5D78C7-A461-A247-C02B-D7CB72DE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5" name="06">
            <a:extLst xmlns:a="http://schemas.openxmlformats.org/drawingml/2006/main">
              <a:ext uri="{FF2B5EF4-FFF2-40B4-BE49-F238E27FC236}">
                <a16:creationId xmlns:a16="http://schemas.microsoft.com/office/drawing/2014/main" id="{5B9536C8-E356-453C-B272-C61FE461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16" name="자유롭게 말한 내용을 읽으려면 음성 인식이 필요합니다.&#10;입력한 문장을 발">
            <a:extLst xmlns:a="http://schemas.openxmlformats.org/drawingml/2006/main">
              <a:ext uri="{FF2B5EF4-FFF2-40B4-BE49-F238E27FC236}">
                <a16:creationId xmlns:a16="http://schemas.microsoft.com/office/drawing/2014/main" id="{C3A0E6EA-5C05-4F3B-816E-78601899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자유롭게 말한 내용을 읽으려면 음성 인식이 필요합니다.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입력한 문장을 발언하려면 한국어 음성 합성이 필요합니다.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4961D502-B5A2-44A6-A23C-99FD5BCC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3257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060"/>
            </a:solidFill>
          </a:ln>
        </p:spPr>
      </p:sp>
      <p:sp>
        <p:nvSpPr>
          <p:cNvPr id="18" name="음성 인식(STT)">
            <a:extLst xmlns:a="http://schemas.openxmlformats.org/drawingml/2006/main">
              <a:ext uri="{FF2B5EF4-FFF2-40B4-BE49-F238E27FC236}">
                <a16:creationId xmlns:a16="http://schemas.microsoft.com/office/drawing/2014/main" id="{96C3C316-81DB-488E-A638-F8778DD5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음성 인식(STT)</a:t>
            </a:r>
          </a:p>
        </p:txBody>
      </p:sp>
      <p:sp>
        <p:nvSpPr>
          <p:cNvPr id="19" name="임시·확정 자막 변환&#10;브라우저 API · 성능 미검증">
            <a:extLst xmlns:a="http://schemas.openxmlformats.org/drawingml/2006/main">
              <a:ext uri="{FF2B5EF4-FFF2-40B4-BE49-F238E27FC236}">
                <a16:creationId xmlns:a16="http://schemas.microsoft.com/office/drawing/2014/main" id="{59FD72E9-9697-471A-A8E5-B4B7BD31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48050"/>
            <a:ext cx="3009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임시·확정 자막 변환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브라우저 API · 성능 </a:t>
            </a: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코드·회귀시험</a:t>
            </a:r>
          </a:p>
        </p:txBody>
      </p:sp>
      <p:sp>
        <p:nvSpPr>
          <p:cNvPr id="20" name="화살표: 오른쪽 19">
            <a:extLst xmlns:a="http://schemas.openxmlformats.org/drawingml/2006/main">
              <a:ext uri="{FF2B5EF4-FFF2-40B4-BE49-F238E27FC236}">
                <a16:creationId xmlns:a16="http://schemas.microsoft.com/office/drawing/2014/main" id="{EFEB3FC3-29B9-432D-93F2-E94221DA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476625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6914A7B7-E896-47C2-A1C8-C2E4FC1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3847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060"/>
            </a:solidFill>
          </a:ln>
        </p:spPr>
      </p:sp>
      <p:sp>
        <p:nvSpPr>
          <p:cNvPr id="22" name="자막 정리">
            <a:extLst xmlns:a="http://schemas.openxmlformats.org/drawingml/2006/main">
              <a:ext uri="{FF2B5EF4-FFF2-40B4-BE49-F238E27FC236}">
                <a16:creationId xmlns:a16="http://schemas.microsoft.com/office/drawing/2014/main" id="{7CCCC3C9-17B6-4ACB-B773-DE568464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242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자막 정리</a:t>
            </a:r>
          </a:p>
        </p:txBody>
      </p:sp>
      <p:sp>
        <p:nvSpPr>
          <p:cNvPr id="23" name="중복 차단 · 오류 시각 기록&#10;공유할 자막 표시">
            <a:extLst xmlns:a="http://schemas.openxmlformats.org/drawingml/2006/main">
              <a:ext uri="{FF2B5EF4-FFF2-40B4-BE49-F238E27FC236}">
                <a16:creationId xmlns:a16="http://schemas.microsoft.com/office/drawing/2014/main" id="{FAF31665-A4E4-49AA-91C9-D6E1AA38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48050"/>
            <a:ext cx="2895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중복 차단 · 오류 시각 기록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공유할 자막 표시</a:t>
            </a:r>
          </a:p>
        </p:txBody>
      </p:sp>
      <p:sp>
        <p:nvSpPr>
          <p:cNvPr id="24" name="화살표: 오른쪽 23">
            <a:extLst xmlns:a="http://schemas.openxmlformats.org/drawingml/2006/main">
              <a:ext uri="{FF2B5EF4-FFF2-40B4-BE49-F238E27FC236}">
                <a16:creationId xmlns:a16="http://schemas.microsoft.com/office/drawing/2014/main" id="{8C4F1978-FFAB-41ED-A4D5-1E4AD815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76625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2FC00578-3785-4BC7-8BE9-3B4B8E6F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38475"/>
            <a:ext cx="3067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060"/>
            </a:solidFill>
          </a:ln>
        </p:spPr>
      </p:sp>
      <p:sp>
        <p:nvSpPr>
          <p:cNvPr id="26" name="대화 읽기">
            <a:extLst xmlns:a="http://schemas.openxmlformats.org/drawingml/2006/main">
              <a:ext uri="{FF2B5EF4-FFF2-40B4-BE49-F238E27FC236}">
                <a16:creationId xmlns:a16="http://schemas.microsoft.com/office/drawing/2014/main" id="{68FBDF83-7D03-4F68-BB4B-5F0ADC4A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1242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대화 읽기</a:t>
            </a:r>
          </a:p>
        </p:txBody>
      </p:sp>
      <p:sp>
        <p:nvSpPr>
          <p:cNvPr id="27" name="잘못 들은 내용 재확인&#10;공유 화면 분리는 개발 예정">
            <a:extLst xmlns:a="http://schemas.openxmlformats.org/drawingml/2006/main">
              <a:ext uri="{FF2B5EF4-FFF2-40B4-BE49-F238E27FC236}">
                <a16:creationId xmlns:a16="http://schemas.microsoft.com/office/drawing/2014/main" id="{98E57FAC-08F8-4067-B411-A02411E9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48050"/>
            <a:ext cx="2819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잘못 들은 내용 재확인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공유 화면 분리는 개발 예정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37859150-9BAB-422D-9BE9-841C91FB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3257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060"/>
            </a:solidFill>
          </a:ln>
        </p:spPr>
      </p:sp>
      <p:sp>
        <p:nvSpPr>
          <p:cNvPr id="29" name="음성 합성(TTS)">
            <a:extLst xmlns:a="http://schemas.openxmlformats.org/drawingml/2006/main">
              <a:ext uri="{FF2B5EF4-FFF2-40B4-BE49-F238E27FC236}">
                <a16:creationId xmlns:a16="http://schemas.microsoft.com/office/drawing/2014/main" id="{EC2E3AD5-24EF-49FC-A7AF-E03295CD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7197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음성 합성(TTS)</a:t>
            </a:r>
          </a:p>
        </p:txBody>
      </p:sp>
      <p:sp>
        <p:nvSpPr>
          <p:cNvPr id="30" name="작성 → 미리보기 → 확인&#10;기기 내 한국어 음성 재생·중지">
            <a:extLst xmlns:a="http://schemas.openxmlformats.org/drawingml/2006/main">
              <a:ext uri="{FF2B5EF4-FFF2-40B4-BE49-F238E27FC236}">
                <a16:creationId xmlns:a16="http://schemas.microsoft.com/office/drawing/2014/main" id="{C53C25B2-4E81-4B76-9509-2F546C5C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95825"/>
            <a:ext cx="3009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작성 → 미리보기 → 확인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기기 내 한국어 음성 재생·중지</a:t>
            </a:r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B3666F61-5F24-4647-B23F-DDC96DEE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862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060"/>
            </a:solidFill>
          </a:ln>
        </p:spPr>
      </p:sp>
      <p:sp>
        <p:nvSpPr>
          <p:cNvPr id="32" name="자막 공백 확인">
            <a:extLst xmlns:a="http://schemas.openxmlformats.org/drawingml/2006/main">
              <a:ext uri="{FF2B5EF4-FFF2-40B4-BE49-F238E27FC236}">
                <a16:creationId xmlns:a16="http://schemas.microsoft.com/office/drawing/2014/main" id="{D322D093-7B7F-4C9F-9FA5-8F6CEE07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7197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자막 공백 확인</a:t>
            </a:r>
          </a:p>
        </p:txBody>
      </p:sp>
      <p:sp>
        <p:nvSpPr>
          <p:cNvPr id="33" name="말소리 구간과 자막 시각 비교&#10;공백·겹침 표시: 본선 개발">
            <a:extLst xmlns:a="http://schemas.openxmlformats.org/drawingml/2006/main">
              <a:ext uri="{FF2B5EF4-FFF2-40B4-BE49-F238E27FC236}">
                <a16:creationId xmlns:a16="http://schemas.microsoft.com/office/drawing/2014/main" id="{1BC06A2F-936B-4908-8508-78F39AEF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95825"/>
            <a:ext cx="2895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말소리 구간과 자막 시각 비교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공백·겹침 표시: 본선 개발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E096250D-121A-48AD-8101-4DBDBC3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86250"/>
            <a:ext cx="3067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060"/>
            </a:solidFill>
          </a:ln>
        </p:spPr>
      </p:sp>
      <p:sp>
        <p:nvSpPr>
          <p:cNvPr id="35" name="익명 방향 추정">
            <a:extLst xmlns:a="http://schemas.openxmlformats.org/drawingml/2006/main">
              <a:ext uri="{FF2B5EF4-FFF2-40B4-BE49-F238E27FC236}">
                <a16:creationId xmlns:a16="http://schemas.microsoft.com/office/drawing/2014/main" id="{A2704BE2-BE76-4C50-B820-0602EC10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719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익명 방향 추정</a:t>
            </a:r>
          </a:p>
        </p:txBody>
      </p:sp>
      <p:sp>
        <p:nvSpPr>
          <p:cNvPr id="36" name="마이크 배열 확보 시 시험&#10;얼굴 신원 식별 사용 안 함">
            <a:extLst xmlns:a="http://schemas.openxmlformats.org/drawingml/2006/main">
              <a:ext uri="{FF2B5EF4-FFF2-40B4-BE49-F238E27FC236}">
                <a16:creationId xmlns:a16="http://schemas.microsoft.com/office/drawing/2014/main" id="{CA59549C-C5E5-4462-8E0C-8ABE116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695825"/>
            <a:ext cx="2819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마이크 배열 확보 시 시험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얼굴 신원 식별 사용 안 함</a:t>
            </a:r>
          </a:p>
        </p:txBody>
      </p:sp>
      <p:sp>
        <p:nvSpPr>
          <p:cNvPr id="37" name="로컬 STT 후보: faster-whisper. 인식률·지연·기기 자원을">
            <a:extLst xmlns:a="http://schemas.openxmlformats.org/drawingml/2006/main">
              <a:ext uri="{FF2B5EF4-FFF2-40B4-BE49-F238E27FC236}">
                <a16:creationId xmlns:a16="http://schemas.microsoft.com/office/drawing/2014/main" id="{25516C6C-997B-4973-8E31-707873C2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로컬 STT 후보: faster-whisper. 인식률·지연·기기 자원을 비교해 선택합니다.</a:t>
            </a:r>
          </a:p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공백 표시는 규칙·말소리 탐지를 비교합니다. 방향 추정은 마이크 배열 입력을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27726700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AC2D427-E826-9449-7822-0C75CBA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E90F90-A1CB-0A56-D073-BCB4775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3. 상세 설명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B77E8C0-D006-58D4-4789-4D78B9B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25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① 기획내용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회의 중 사용 순서</a:t>
            </a:r>
            <a:endParaRPr sz="1800" b="1">
              <a:solidFill>
                <a:srgbClr val="00206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E3FD1DD-9B94-D490-3FB4-41D71B87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3F16E6-5FE4-B3E6-2BF7-4FDC50A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0" name="07">
            <a:extLst xmlns:a="http://schemas.openxmlformats.org/drawingml/2006/main">
              <a:ext uri="{FF2B5EF4-FFF2-40B4-BE49-F238E27FC236}">
                <a16:creationId xmlns:a16="http://schemas.microsoft.com/office/drawing/2014/main" id="{4CAB60CF-FE0E-4F7F-8EF0-B3711585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1" name="1. 회의 시작">
            <a:extLst xmlns:a="http://schemas.openxmlformats.org/drawingml/2006/main">
              <a:ext uri="{FF2B5EF4-FFF2-40B4-BE49-F238E27FC236}">
                <a16:creationId xmlns:a16="http://schemas.microsoft.com/office/drawing/2014/main" id="{E55790C2-8A91-4BE4-9308-B1455ADF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02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1. 회의 시작</a:t>
            </a:r>
          </a:p>
        </p:txBody>
      </p:sp>
      <p:sp>
        <p:nvSpPr>
          <p:cNvPr id="12" name="참석자에게 안내&#10;음성 처리 방식 확인">
            <a:extLst xmlns:a="http://schemas.openxmlformats.org/drawingml/2006/main">
              <a:ext uri="{FF2B5EF4-FFF2-40B4-BE49-F238E27FC236}">
                <a16:creationId xmlns:a16="http://schemas.microsoft.com/office/drawing/2014/main" id="{14491ECF-8EEE-4ECF-98C7-C46010CB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3842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참석자에게 안내</a:t>
            </a:r>
          </a:p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음성 처리 방식 확인</a:t>
            </a:r>
          </a:p>
        </p:txBody>
      </p:sp>
      <p:sp>
        <p:nvSpPr>
          <p:cNvPr id="13" name="2. 대화 읽기">
            <a:extLst xmlns:a="http://schemas.openxmlformats.org/drawingml/2006/main">
              <a:ext uri="{FF2B5EF4-FFF2-40B4-BE49-F238E27FC236}">
                <a16:creationId xmlns:a16="http://schemas.microsoft.com/office/drawing/2014/main" id="{CF3DDB56-7513-49AF-9E9F-4FB735C8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2002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2. 대화 읽기</a:t>
            </a:r>
          </a:p>
        </p:txBody>
      </p:sp>
      <p:sp>
        <p:nvSpPr>
          <p:cNvPr id="14" name="임시·확정 자막 읽기&#10;오인식 내용 재확인">
            <a:extLst xmlns:a="http://schemas.openxmlformats.org/drawingml/2006/main">
              <a:ext uri="{FF2B5EF4-FFF2-40B4-BE49-F238E27FC236}">
                <a16:creationId xmlns:a16="http://schemas.microsoft.com/office/drawing/2014/main" id="{543780C3-4DE1-4312-9088-4AED9D9B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3842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임시·확정 자막 읽기</a:t>
            </a:r>
          </a:p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오인식 내용 재확인</a:t>
            </a:r>
          </a:p>
        </p:txBody>
      </p:sp>
      <p:sp>
        <p:nvSpPr>
          <p:cNvPr id="15" name="3. 내 문장 작성">
            <a:extLst xmlns:a="http://schemas.openxmlformats.org/drawingml/2006/main">
              <a:ext uri="{FF2B5EF4-FFF2-40B4-BE49-F238E27FC236}">
                <a16:creationId xmlns:a16="http://schemas.microsoft.com/office/drawing/2014/main" id="{6440239A-F725-45E2-AA5B-D24DE2D1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02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3. 내 문장 작성</a:t>
            </a:r>
          </a:p>
        </p:txBody>
      </p:sp>
      <p:sp>
        <p:nvSpPr>
          <p:cNvPr id="16" name="문장 입력과 미리보기&#10;확인 후 전송 버튼">
            <a:extLst xmlns:a="http://schemas.openxmlformats.org/drawingml/2006/main">
              <a:ext uri="{FF2B5EF4-FFF2-40B4-BE49-F238E27FC236}">
                <a16:creationId xmlns:a16="http://schemas.microsoft.com/office/drawing/2014/main" id="{A5A776A6-1210-42FF-985F-9D03D7D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3842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문장 입력과 미리보기</a:t>
            </a:r>
          </a:p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확인 후 전송 버튼</a:t>
            </a:r>
          </a:p>
        </p:txBody>
      </p:sp>
      <p:sp>
        <p:nvSpPr>
          <p:cNvPr id="17" name="4. 발언과 확인">
            <a:extLst xmlns:a="http://schemas.openxmlformats.org/drawingml/2006/main">
              <a:ext uri="{FF2B5EF4-FFF2-40B4-BE49-F238E27FC236}">
                <a16:creationId xmlns:a16="http://schemas.microsoft.com/office/drawing/2014/main" id="{DDD5A751-FDE8-4B74-A64A-35AB9216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02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4. 발언과 확인</a:t>
            </a:r>
          </a:p>
        </p:txBody>
      </p:sp>
      <p:sp>
        <p:nvSpPr>
          <p:cNvPr id="18" name="음성 재생과 중지&#10;놓친 구간 다시 확인">
            <a:extLst xmlns:a="http://schemas.openxmlformats.org/drawingml/2006/main">
              <a:ext uri="{FF2B5EF4-FFF2-40B4-BE49-F238E27FC236}">
                <a16:creationId xmlns:a16="http://schemas.microsoft.com/office/drawing/2014/main" id="{E996A3F2-BC4A-4BB5-8EFF-BE3C08A8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3842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음성 재생과 중지</a:t>
            </a:r>
          </a:p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놓친 구간 다시 확인</a:t>
            </a:r>
          </a:p>
        </p:txBody>
      </p:sp>
      <p:pic>
        <p:nvPicPr>
          <p:cNvPr id="36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a1f8150dc4f8c"/>
          <a:stretch xmlns:a="http://schemas.openxmlformats.org/drawingml/2006/main"/>
        </p:blipFill>
        <p:spPr>
          <a:xfrm xmlns:a="http://schemas.openxmlformats.org/drawingml/2006/main">
            <a:off x="1695377" y="3429000"/>
            <a:ext cx="8753622" cy="2171700"/>
          </a:xfrm>
          <a:prstGeom xmlns:a="http://schemas.openxmlformats.org/drawingml/2006/main" prst="rect">
            <a:avLst/>
          </a:prstGeom>
        </p:spPr>
      </p:pic>
      <p:sp>
        <p:nvSpPr>
          <p:cNvPr id="20" name="실제 TTS 입력 화면이며 시연 문장을 사용했습니다. ‘비공개·패널에 숨">
            <a:extLst xmlns:a="http://schemas.openxmlformats.org/drawingml/2006/main">
              <a:ext uri="{FF2B5EF4-FFF2-40B4-BE49-F238E27FC236}">
                <a16:creationId xmlns:a16="http://schemas.microsoft.com/office/drawing/2014/main" id="{17BA49A3-4A73-44E5-8447-72F7EAB6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1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실제 TTS 입력 화면이며 시연 문장을 사용했습니다. ‘비공개·패널에 숨김’ 표시는 시연용입니다.</a:t>
            </a:r>
          </a:p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초안과 공유 화면의 실제 분리, 놓친 구간 목록은 개발 예정입니다.</a:t>
            </a:r>
          </a:p>
        </p:txBody>
      </p:sp>
    </p:spTree>
    <p:extLst>
      <p:ext uri="{BB962C8B-B14F-4D97-AF65-F5344CB8AC3E}">
        <p14:creationId xmlns:p14="http://schemas.microsoft.com/office/powerpoint/2010/main" val="12111695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AC2D427-E826-9449-7822-0C75CBA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E90F90-A1CB-0A56-D073-BCB4775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3. 상세 설명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B77E8C0-D006-58D4-4789-4D78B9B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25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① 기획내용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노트북과 패널 연결안</a:t>
            </a:r>
            <a:endParaRPr sz="1800" b="1">
              <a:solidFill>
                <a:srgbClr val="00206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E3FD1DD-9B94-D490-3FB4-41D71B87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3F16E6-5FE4-B3E6-2BF7-4FDC50A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0" name="08">
            <a:extLst xmlns:a="http://schemas.openxmlformats.org/drawingml/2006/main">
              <a:ext uri="{FF2B5EF4-FFF2-40B4-BE49-F238E27FC236}">
                <a16:creationId xmlns:a16="http://schemas.microsoft.com/office/drawing/2014/main" id="{1F080439-F3BE-45EF-833C-68D34854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55763E9B-74FF-460F-9268-E1A5C9E9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552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060"/>
            </a:solidFill>
          </a:ln>
        </p:spPr>
      </p:sp>
      <p:sp>
        <p:nvSpPr>
          <p:cNvPr id="12" name="USB 마이크">
            <a:extLst xmlns:a="http://schemas.openxmlformats.org/drawingml/2006/main">
              <a:ext uri="{FF2B5EF4-FFF2-40B4-BE49-F238E27FC236}">
                <a16:creationId xmlns:a16="http://schemas.microsoft.com/office/drawing/2014/main" id="{887056AE-D984-433E-BF67-F41052B4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76475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USB 마이크</a:t>
            </a:r>
          </a:p>
        </p:txBody>
      </p:sp>
      <p:sp>
        <p:nvSpPr>
          <p:cNvPr id="13" name="회의 음성 입력&#10;방향 시험: 다채널">
            <a:extLst xmlns:a="http://schemas.openxmlformats.org/drawingml/2006/main">
              <a:ext uri="{FF2B5EF4-FFF2-40B4-BE49-F238E27FC236}">
                <a16:creationId xmlns:a16="http://schemas.microsoft.com/office/drawing/2014/main" id="{EF3E6C2E-5EDE-40ED-B659-0FC96973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00325"/>
            <a:ext cx="230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회의 음성 입력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방향 시험: 다채널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40E0A753-D96A-4519-B4FB-E22A4FF6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2552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8635D"/>
            </a:solidFill>
          </a:ln>
        </p:spPr>
      </p:sp>
      <p:sp>
        <p:nvSpPr>
          <p:cNvPr id="15" name="정면 카메라">
            <a:extLst xmlns:a="http://schemas.openxmlformats.org/drawingml/2006/main">
              <a:ext uri="{FF2B5EF4-FFF2-40B4-BE49-F238E27FC236}">
                <a16:creationId xmlns:a16="http://schemas.microsoft.com/office/drawing/2014/main" id="{316302F0-C95C-49C6-91FE-ABA76E8E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57575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58635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8635D"/>
                </a:solidFill>
                <a:latin typeface="Malgun Gothic"/>
                <a:ea typeface="Malgun Gothic"/>
                <a:cs typeface="Malgun Gothic"/>
              </a:rPr>
              <a:t>정면 카메라</a:t>
            </a:r>
          </a:p>
        </p:txBody>
      </p:sp>
      <p:sp>
        <p:nvSpPr>
          <p:cNvPr id="16" name="사람 위치 후보 탐지&#10;단독 화자 판정 불가">
            <a:extLst xmlns:a="http://schemas.openxmlformats.org/drawingml/2006/main">
              <a:ext uri="{FF2B5EF4-FFF2-40B4-BE49-F238E27FC236}">
                <a16:creationId xmlns:a16="http://schemas.microsoft.com/office/drawing/2014/main" id="{7066ACAD-4239-4FA0-A0B0-939F74C0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1425"/>
            <a:ext cx="230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사람 위치 후보 탐지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단독 화자 판정 불가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84BF3C4D-7732-4B4D-98E6-CBA8D855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552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060"/>
            </a:solidFill>
          </a:ln>
        </p:spPr>
      </p:sp>
      <p:sp>
        <p:nvSpPr>
          <p:cNvPr id="18" name="키보드">
            <a:extLst xmlns:a="http://schemas.openxmlformats.org/drawingml/2006/main">
              <a:ext uri="{FF2B5EF4-FFF2-40B4-BE49-F238E27FC236}">
                <a16:creationId xmlns:a16="http://schemas.microsoft.com/office/drawing/2014/main" id="{A858AC7A-0872-4250-8790-909AFB83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38675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키보드</a:t>
            </a:r>
          </a:p>
        </p:txBody>
      </p:sp>
      <p:sp>
        <p:nvSpPr>
          <p:cNvPr id="19" name="발언 문장 입력&#10;전송 전 내용 확인">
            <a:extLst xmlns:a="http://schemas.openxmlformats.org/drawingml/2006/main">
              <a:ext uri="{FF2B5EF4-FFF2-40B4-BE49-F238E27FC236}">
                <a16:creationId xmlns:a16="http://schemas.microsoft.com/office/drawing/2014/main" id="{7CFDEBB6-4FEA-4E17-AA54-D924051A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62525"/>
            <a:ext cx="230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발언 문장 입력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전송 전 내용 확인</a:t>
            </a:r>
          </a:p>
        </p:txBody>
      </p:sp>
      <p:sp>
        <p:nvSpPr>
          <p:cNvPr id="20" name="화살표: 오른쪽 19">
            <a:extLst xmlns:a="http://schemas.openxmlformats.org/drawingml/2006/main">
              <a:ext uri="{FF2B5EF4-FFF2-40B4-BE49-F238E27FC236}">
                <a16:creationId xmlns:a16="http://schemas.microsoft.com/office/drawing/2014/main" id="{C905D5DC-BF89-4A1C-B35F-39EFCC81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28900"/>
            <a:ext cx="5238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1" name="화살표: 오른쪽 20">
            <a:extLst xmlns:a="http://schemas.openxmlformats.org/drawingml/2006/main">
              <a:ext uri="{FF2B5EF4-FFF2-40B4-BE49-F238E27FC236}">
                <a16:creationId xmlns:a16="http://schemas.microsoft.com/office/drawing/2014/main" id="{5037E09C-E243-450F-B9CB-2FBCE6E3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5238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635D"/>
          </a:solidFill>
          <a:ln xmlns:a="http://schemas.openxmlformats.org/drawingml/2006/main" w="0">
            <a:noFill/>
          </a:ln>
        </p:spPr>
      </p:sp>
      <p:sp>
        <p:nvSpPr>
          <p:cNvPr id="22" name="화살표: 오른쪽 21">
            <a:extLst xmlns:a="http://schemas.openxmlformats.org/drawingml/2006/main">
              <a:ext uri="{FF2B5EF4-FFF2-40B4-BE49-F238E27FC236}">
                <a16:creationId xmlns:a16="http://schemas.microsoft.com/office/drawing/2014/main" id="{18B8DCD6-F629-425C-A740-45BF332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72050"/>
            <a:ext cx="5238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3" name="USB">
            <a:extLst xmlns:a="http://schemas.openxmlformats.org/drawingml/2006/main">
              <a:ext uri="{FF2B5EF4-FFF2-40B4-BE49-F238E27FC236}">
                <a16:creationId xmlns:a16="http://schemas.microsoft.com/office/drawing/2014/main" id="{B3F16BDF-F8F5-47F6-AC1C-07402A4A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USB</a:t>
            </a:r>
          </a:p>
        </p:txBody>
      </p:sp>
      <p:sp>
        <p:nvSpPr>
          <p:cNvPr id="24" name="USB">
            <a:extLst xmlns:a="http://schemas.openxmlformats.org/drawingml/2006/main">
              <a:ext uri="{FF2B5EF4-FFF2-40B4-BE49-F238E27FC236}">
                <a16:creationId xmlns:a16="http://schemas.microsoft.com/office/drawing/2014/main" id="{3EFDFD25-3041-47D8-8C2F-31F948A4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861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USB</a:t>
            </a:r>
          </a:p>
        </p:txBody>
      </p:sp>
      <p:sp>
        <p:nvSpPr>
          <p:cNvPr id="25" name="내장/USB">
            <a:extLst xmlns:a="http://schemas.openxmlformats.org/drawingml/2006/main">
              <a:ext uri="{FF2B5EF4-FFF2-40B4-BE49-F238E27FC236}">
                <a16:creationId xmlns:a16="http://schemas.microsoft.com/office/drawing/2014/main" id="{47E69242-599D-49A6-9439-D57C667B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76775"/>
            <a:ext cx="781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내장/USB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823723D4-EF20-4967-ACE4-048FF2CB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3190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060"/>
            </a:solidFill>
          </a:ln>
        </p:spPr>
      </p:sp>
      <p:sp>
        <p:nvSpPr>
          <p:cNvPr id="27" name="노트북 / VoiceEye">
            <a:extLst xmlns:a="http://schemas.openxmlformats.org/drawingml/2006/main">
              <a:ext uri="{FF2B5EF4-FFF2-40B4-BE49-F238E27FC236}">
                <a16:creationId xmlns:a16="http://schemas.microsoft.com/office/drawing/2014/main" id="{AE195274-423E-46FB-A0C6-A51E67DD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276475"/>
            <a:ext cx="2943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노트북 / VoiceEye</a:t>
            </a:r>
          </a:p>
        </p:txBody>
      </p:sp>
      <p:sp>
        <p:nvSpPr>
          <p:cNvPr id="28" name="음성 인식과 음성 합성&#10;&#10;자막과 오류 시각 기록&#10;&#10;공유할 내용만 외부 출">
            <a:extLst xmlns:a="http://schemas.openxmlformats.org/drawingml/2006/main">
              <a:ext uri="{FF2B5EF4-FFF2-40B4-BE49-F238E27FC236}">
                <a16:creationId xmlns:a16="http://schemas.microsoft.com/office/drawing/2014/main" id="{BA86CD3F-1929-42E6-9FCD-9D3BDCA6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600325"/>
            <a:ext cx="2943225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음성 인식과 음성 합성</a:t>
            </a:r>
          </a:p>
          <a:p xmlns:a="http://schemas.openxmlformats.org/drawingml/2006/main">
            <a:endParaRPr sz="1650" b="0">
              <a:solidFill>
                <a:srgbClr val="161616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자막과 오류 시각 기록</a:t>
            </a:r>
          </a:p>
          <a:p xmlns:a="http://schemas.openxmlformats.org/drawingml/2006/main">
            <a:endParaRPr sz="1650" b="0">
              <a:solidFill>
                <a:srgbClr val="161616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공유할 내용만 외부 출력</a:t>
            </a:r>
          </a:p>
          <a:p xmlns:a="http://schemas.openxmlformats.org/drawingml/2006/main">
            <a:endParaRPr sz="1650" b="0">
              <a:solidFill>
                <a:srgbClr val="161616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내 화면에서 초안 확인</a:t>
            </a:r>
          </a:p>
        </p:txBody>
      </p:sp>
      <p:sp>
        <p:nvSpPr>
          <p:cNvPr id="29" name="화살표: 오른쪽 28">
            <a:extLst xmlns:a="http://schemas.openxmlformats.org/drawingml/2006/main">
              <a:ext uri="{FF2B5EF4-FFF2-40B4-BE49-F238E27FC236}">
                <a16:creationId xmlns:a16="http://schemas.microsoft.com/office/drawing/2014/main" id="{9CD15A59-82F8-4F0B-9D0E-5769AD00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57500"/>
            <a:ext cx="714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0" name="영상 출력">
            <a:extLst xmlns:a="http://schemas.openxmlformats.org/drawingml/2006/main">
              <a:ext uri="{FF2B5EF4-FFF2-40B4-BE49-F238E27FC236}">
                <a16:creationId xmlns:a16="http://schemas.microsoft.com/office/drawing/2014/main" id="{D8738236-157B-40C5-8913-5B04DD01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영상 출력</a:t>
            </a:r>
          </a:p>
        </p:txBody>
      </p:sp>
      <p:sp>
        <p:nvSpPr>
          <p:cNvPr id="31" name="USB-C 영상&#10;지원 시 사용&#10;또는 HDMI">
            <a:extLst xmlns:a="http://schemas.openxmlformats.org/drawingml/2006/main">
              <a:ext uri="{FF2B5EF4-FFF2-40B4-BE49-F238E27FC236}">
                <a16:creationId xmlns:a16="http://schemas.microsoft.com/office/drawing/2014/main" id="{4280C089-62B4-4924-BADC-F4C357E6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09925"/>
            <a:ext cx="1028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USB-C 영상</a:t>
            </a:r>
          </a:p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지원 시 사용</a:t>
            </a:r>
          </a:p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또는 HDMI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6ECCC311-1222-4EEC-97CC-B4ED55E7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90750"/>
            <a:ext cx="3009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060"/>
            </a:solidFill>
          </a:ln>
        </p:spPr>
      </p:sp>
      <p:sp>
        <p:nvSpPr>
          <p:cNvPr id="33" name="투명 패널">
            <a:extLst xmlns:a="http://schemas.openxmlformats.org/drawingml/2006/main">
              <a:ext uri="{FF2B5EF4-FFF2-40B4-BE49-F238E27FC236}">
                <a16:creationId xmlns:a16="http://schemas.microsoft.com/office/drawing/2014/main" id="{C80231A1-5110-4866-8FBB-85030F40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764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투명 패널</a:t>
            </a:r>
          </a:p>
        </p:txBody>
      </p:sp>
      <p:sp>
        <p:nvSpPr>
          <p:cNvPr id="34" name="자막과 좌석 번호 표시&#10;영상 입력 컨트롤러 필요&#10;공유 화면 분리 개발 예">
            <a:extLst xmlns:a="http://schemas.openxmlformats.org/drawingml/2006/main">
              <a:ext uri="{FF2B5EF4-FFF2-40B4-BE49-F238E27FC236}">
                <a16:creationId xmlns:a16="http://schemas.microsoft.com/office/drawing/2014/main" id="{A6460F6B-AB51-4455-84EF-9A4FD3BB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0325"/>
            <a:ext cx="2762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자막과 좌석 번호 표시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영상 입력 컨트롤러 필요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공유 화면 분리 개발 예정</a:t>
            </a:r>
          </a:p>
        </p:txBody>
      </p:sp>
      <p:sp>
        <p:nvSpPr>
          <p:cNvPr id="35" name="전원: PD 또는 별도 어댑터&#10;가독성과 시야각은 실물 시험">
            <a:extLst xmlns:a="http://schemas.openxmlformats.org/drawingml/2006/main">
              <a:ext uri="{FF2B5EF4-FFF2-40B4-BE49-F238E27FC236}">
                <a16:creationId xmlns:a16="http://schemas.microsoft.com/office/drawing/2014/main" id="{73A9D84B-499F-4B59-8F2F-D53CF4CB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62400"/>
            <a:ext cx="3009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전원: PD 또는 별도 어댑터</a:t>
            </a:r>
          </a:p>
          <a:p xmlns:a="http://schemas.openxmlformats.org/drawingml/2006/main">
            <a:pPr>
              <a:buNone/>
              <a:defRPr sz="150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가독성과 시야각은 실물 시험</a:t>
            </a:r>
          </a:p>
        </p:txBody>
      </p:sp>
      <p:sp>
        <p:nvSpPr>
          <p:cNvPr id="36" name="화살표: 오른쪽 35">
            <a:extLst xmlns:a="http://schemas.openxmlformats.org/drawingml/2006/main">
              <a:ext uri="{FF2B5EF4-FFF2-40B4-BE49-F238E27FC236}">
                <a16:creationId xmlns:a16="http://schemas.microsoft.com/office/drawing/2014/main" id="{BA54E13F-FCCD-4E60-977D-89072E55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72050"/>
            <a:ext cx="714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7" name="음성 출력">
            <a:extLst xmlns:a="http://schemas.openxmlformats.org/drawingml/2006/main">
              <a:ext uri="{FF2B5EF4-FFF2-40B4-BE49-F238E27FC236}">
                <a16:creationId xmlns:a16="http://schemas.microsoft.com/office/drawing/2014/main" id="{42D89EE2-D298-4B2F-BEA7-AE2B0F07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2915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음성 출력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3F72B8C2-7D3E-4020-9B92-AFAE0F4B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552950"/>
            <a:ext cx="3009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060"/>
            </a:solidFill>
          </a:ln>
        </p:spPr>
      </p:sp>
      <p:sp>
        <p:nvSpPr>
          <p:cNvPr id="39" name="스피커">
            <a:extLst xmlns:a="http://schemas.openxmlformats.org/drawingml/2006/main">
              <a:ext uri="{FF2B5EF4-FFF2-40B4-BE49-F238E27FC236}">
                <a16:creationId xmlns:a16="http://schemas.microsoft.com/office/drawing/2014/main" id="{7ABA32FB-3E80-42F4-A9A8-01E21175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38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스피커</a:t>
            </a:r>
          </a:p>
        </p:txBody>
      </p:sp>
      <p:sp>
        <p:nvSpPr>
          <p:cNvPr id="40" name="확인한 문장만 재생&#10;내장 또는 외장 스피커">
            <a:extLst xmlns:a="http://schemas.openxmlformats.org/drawingml/2006/main">
              <a:ext uri="{FF2B5EF4-FFF2-40B4-BE49-F238E27FC236}">
                <a16:creationId xmlns:a16="http://schemas.microsoft.com/office/drawing/2014/main" id="{CCE657E7-B83C-448D-8279-3C1A1FA1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6252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확인한 문장만 재생</a:t>
            </a:r>
          </a:p>
          <a:p xmlns:a="http://schemas.openxmlformats.org/drawingml/2006/main">
            <a:pPr>
              <a:buNone/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내장 또는 외장 스피커</a:t>
            </a:r>
          </a:p>
        </p:txBody>
      </p:sp>
      <p:sp>
        <p:nvSpPr>
          <p:cNvPr id="41" name="제안 구조입니다. 장치 선정 후 영상·전원 호환성, 패널을 보는 방향과 ">
            <a:extLst xmlns:a="http://schemas.openxmlformats.org/drawingml/2006/main">
              <a:ext uri="{FF2B5EF4-FFF2-40B4-BE49-F238E27FC236}">
                <a16:creationId xmlns:a16="http://schemas.microsoft.com/office/drawing/2014/main" id="{95606D12-2B21-4C60-AA1F-4C870A89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제안 구조입니다. 장치 선정 후 영상·전원 호환성, 패널을 보는 방향과 글자 가독성을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111695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AC2D427-E826-9449-7822-0C75CBA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E90F90-A1CB-0A56-D073-BCB4775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3. 상세 설명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B77E8C0-D006-58D4-4789-4D78B9B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25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① 기획내용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현재 구현과 본선 개발 범위</a:t>
            </a:r>
            <a:endParaRPr sz="1800" b="1">
              <a:solidFill>
                <a:srgbClr val="00206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E3FD1DD-9B94-D490-3FB4-41D71B87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3F16E6-5FE4-B3E6-2BF7-4FDC50A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0" name="09">
            <a:extLst xmlns:a="http://schemas.openxmlformats.org/drawingml/2006/main">
              <a:ext uri="{FF2B5EF4-FFF2-40B4-BE49-F238E27FC236}">
                <a16:creationId xmlns:a16="http://schemas.microsoft.com/office/drawing/2014/main" id="{7B103778-A6E9-458C-99F6-92F4FAF1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20" name="표 18"/>
          <p:cNvGraphicFramePr/>
          <p:nvPr/>
        </p:nvGraphicFramePr>
        <p:xfrm>
          <a:off xmlns:a="http://schemas.openxmlformats.org/drawingml/2006/main" x="561975" y="2181225"/>
          <a:ext xmlns:a="http://schemas.openxmlformats.org/drawingml/2006/main" cx="110680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409700"/>
                <a:gridCol w="6705600"/>
              </a:tblGrid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내용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문장 작성·TTS 재생·중지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작동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기기에 설치된 한국어 음성으로 동작 확인. 음질 평가 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마이크 STT와 실시간 자막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통과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재시작·중복 방지 시험 통과. 실제 마이크 인식률은 미측정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발언자 좌석과 겹침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대본과 고정 좌석 사용. 실시간 발언자 추정 미구현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STT·자막 공백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본선 개발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faster-whisper 비교, 말소리와 자막 시각 대조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익명 방향 추정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본선 개발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마이크 배열·시간 확보 시 시험. 미확보 시 수동 좌석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투명 패널·카메라 결합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미검증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호환성과 실물 가독성, 다중 발언자 구분 시험 필요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이번 개발은 노트북 MVP 중심입니다. 거치형·독립형 기기와 스마트글래스">
            <a:extLst xmlns:a="http://schemas.openxmlformats.org/drawingml/2006/main">
              <a:ext uri="{FF2B5EF4-FFF2-40B4-BE49-F238E27FC236}">
                <a16:creationId xmlns:a16="http://schemas.microsoft.com/office/drawing/2014/main" id="{579FCCEF-1C0A-47C3-A178-D8F09976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이번 개발은 노트북 MVP 중심입니다. 거치형·독립형 기기와 스마트글래스는 후속 확장안입니다.</a:t>
            </a:r>
          </a:p>
        </p:txBody>
      </p:sp>
    </p:spTree>
    <p:extLst>
      <p:ext uri="{BB962C8B-B14F-4D97-AF65-F5344CB8AC3E}">
        <p14:creationId xmlns:p14="http://schemas.microsoft.com/office/powerpoint/2010/main" val="12111695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AC2D427-E826-9449-7822-0C75CBA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E90F90-A1CB-0A56-D073-BCB4775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3. 상세 설명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B77E8C0-D006-58D4-4789-4D78B9B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25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① 기획내용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인식 오류와 기록 처리</a:t>
            </a:r>
            <a:endParaRPr sz="1800" b="1">
              <a:solidFill>
                <a:srgbClr val="00206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E3FD1DD-9B94-D490-3FB4-41D71B87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3F16E6-5FE4-B3E6-2BF7-4FDC50A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0" name="10">
            <a:extLst xmlns:a="http://schemas.openxmlformats.org/drawingml/2006/main">
              <a:ext uri="{FF2B5EF4-FFF2-40B4-BE49-F238E27FC236}">
                <a16:creationId xmlns:a16="http://schemas.microsoft.com/office/drawing/2014/main" id="{00B739D1-C5D8-4AF1-9DF3-312737B2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20" name="표 18"/>
          <p:cNvGraphicFramePr/>
          <p:nvPr/>
        </p:nvGraphicFramePr>
        <p:xfrm>
          <a:off xmlns:a="http://schemas.openxmlformats.org/drawingml/2006/main" x="561975" y="2181225"/>
          <a:ext xmlns:a="http://schemas.openxmlformats.org/drawingml/2006/main" cx="1106805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5550"/>
                <a:gridCol w="4276725"/>
                <a:gridCol w="4295775"/>
              </a:tblGrid>
              <a:tr h="5445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안내와 대응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계획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재시작·중복 자막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인식을 완전히 중지한 뒤 다시 시작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구현: 이전 인식기·중복 결과 차단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무음·연결 끊김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중단 사유와 다시 시작 버튼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구현: 무음 시 자동 재시작 중단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스피커 음성 재인식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발언 표시, 재생 중 STT 일시중지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구현: 재생 중 STT 중지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겹침·발언자 불명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구간과 미확정 좌석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본선: 판정 기준을 시험한 뒤 적용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저장·외부 전송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방식과 삭제기한을 시작 전 안내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본선: 저장 선택과 서비스 정책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브라우저·구현 방식에 따라 음성이 외부 서버에서 처리될 수 있습니다.&#10;시">
            <a:extLst xmlns:a="http://schemas.openxmlformats.org/drawingml/2006/main">
              <a:ext uri="{FF2B5EF4-FFF2-40B4-BE49-F238E27FC236}">
                <a16:creationId xmlns:a16="http://schemas.microsoft.com/office/drawing/2014/main" id="{FB46BA71-ACE0-4759-B481-6E4151B0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101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브라우저·구현 방식에 따라 음성이 외부 서버에서 처리될 수 있습니다.</a:t>
            </a:r>
          </a:p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시험 전에 처리 경로와 저장 여부를 확인해 안내합니다. 기록 저장은 동의·삭제 절차를 갖춘 뒤 도입합니다.</a:t>
            </a:r>
          </a:p>
        </p:txBody>
      </p:sp>
    </p:spTree>
    <p:extLst>
      <p:ext uri="{BB962C8B-B14F-4D97-AF65-F5344CB8AC3E}">
        <p14:creationId xmlns:p14="http://schemas.microsoft.com/office/powerpoint/2010/main" val="12111695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AC2D427-E826-9449-7822-0C75CBA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E90F90-A1CB-0A56-D073-BCB4775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3. 상세 설명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B77E8C0-D006-58D4-4789-4D78B9B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25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① 기획내용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10~12월 개발 일정</a:t>
            </a:r>
            <a:endParaRPr sz="1800" b="1">
              <a:solidFill>
                <a:srgbClr val="00206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E3FD1DD-9B94-D490-3FB4-41D71B87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3F16E6-5FE4-B3E6-2BF7-4FDC50A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0" name="11">
            <a:extLst xmlns:a="http://schemas.openxmlformats.org/drawingml/2006/main">
              <a:ext uri="{FF2B5EF4-FFF2-40B4-BE49-F238E27FC236}">
                <a16:creationId xmlns:a16="http://schemas.microsoft.com/office/drawing/2014/main" id="{E357F9B7-B4FF-4B39-ABE3-3B1226BF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11" name="10월">
            <a:extLst xmlns:a="http://schemas.openxmlformats.org/drawingml/2006/main">
              <a:ext uri="{FF2B5EF4-FFF2-40B4-BE49-F238E27FC236}">
                <a16:creationId xmlns:a16="http://schemas.microsoft.com/office/drawing/2014/main" id="{289E5464-11EA-4D85-882D-7093B271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0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10월</a:t>
            </a:r>
          </a:p>
        </p:txBody>
      </p:sp>
      <p:sp>
        <p:nvSpPr>
          <p:cNvPr id="12" name="11월">
            <a:extLst xmlns:a="http://schemas.openxmlformats.org/drawingml/2006/main">
              <a:ext uri="{FF2B5EF4-FFF2-40B4-BE49-F238E27FC236}">
                <a16:creationId xmlns:a16="http://schemas.microsoft.com/office/drawing/2014/main" id="{93B99801-3510-4A8C-BD01-9EF7169C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0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11월</a:t>
            </a:r>
          </a:p>
        </p:txBody>
      </p:sp>
      <p:sp>
        <p:nvSpPr>
          <p:cNvPr id="13" name="12월">
            <a:extLst xmlns:a="http://schemas.openxmlformats.org/drawingml/2006/main">
              <a:ext uri="{FF2B5EF4-FFF2-40B4-BE49-F238E27FC236}">
                <a16:creationId xmlns:a16="http://schemas.microsoft.com/office/drawing/2014/main" id="{3C015A74-B864-4337-994B-7D2F3485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0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12월</a:t>
            </a:r>
          </a:p>
        </p:txBody>
      </p:sp>
      <p:sp>
        <p:nvSpPr>
          <p:cNvPr id="14" name="1주">
            <a:extLst xmlns:a="http://schemas.openxmlformats.org/drawingml/2006/main">
              <a:ext uri="{FF2B5EF4-FFF2-40B4-BE49-F238E27FC236}">
                <a16:creationId xmlns:a16="http://schemas.microsoft.com/office/drawing/2014/main" id="{C972CCCA-E28E-46DA-A61E-1F2E9270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1주</a:t>
            </a:r>
          </a:p>
        </p:txBody>
      </p:sp>
      <p:sp>
        <p:nvSpPr>
          <p:cNvPr id="15" name="2주">
            <a:extLst xmlns:a="http://schemas.openxmlformats.org/drawingml/2006/main">
              <a:ext uri="{FF2B5EF4-FFF2-40B4-BE49-F238E27FC236}">
                <a16:creationId xmlns:a16="http://schemas.microsoft.com/office/drawing/2014/main" id="{77FFC04F-A850-476D-85E5-1B95A619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2주</a:t>
            </a:r>
          </a:p>
        </p:txBody>
      </p:sp>
      <p:sp>
        <p:nvSpPr>
          <p:cNvPr id="16" name="3주">
            <a:extLst xmlns:a="http://schemas.openxmlformats.org/drawingml/2006/main">
              <a:ext uri="{FF2B5EF4-FFF2-40B4-BE49-F238E27FC236}">
                <a16:creationId xmlns:a16="http://schemas.microsoft.com/office/drawing/2014/main" id="{68EF2AB2-61F9-44AD-A6EB-1565B046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3주</a:t>
            </a:r>
          </a:p>
        </p:txBody>
      </p:sp>
      <p:sp>
        <p:nvSpPr>
          <p:cNvPr id="17" name="4주">
            <a:extLst xmlns:a="http://schemas.openxmlformats.org/drawingml/2006/main">
              <a:ext uri="{FF2B5EF4-FFF2-40B4-BE49-F238E27FC236}">
                <a16:creationId xmlns:a16="http://schemas.microsoft.com/office/drawing/2014/main" id="{16E495DD-D2CA-473F-8F14-FEC5AC20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4주</a:t>
            </a:r>
          </a:p>
        </p:txBody>
      </p:sp>
      <p:sp>
        <p:nvSpPr>
          <p:cNvPr id="18" name="1주">
            <a:extLst xmlns:a="http://schemas.openxmlformats.org/drawingml/2006/main">
              <a:ext uri="{FF2B5EF4-FFF2-40B4-BE49-F238E27FC236}">
                <a16:creationId xmlns:a16="http://schemas.microsoft.com/office/drawing/2014/main" id="{DE33F43D-1CE5-473E-99CD-45F7A57A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1주</a:t>
            </a:r>
          </a:p>
        </p:txBody>
      </p:sp>
      <p:sp>
        <p:nvSpPr>
          <p:cNvPr id="19" name="2주">
            <a:extLst xmlns:a="http://schemas.openxmlformats.org/drawingml/2006/main">
              <a:ext uri="{FF2B5EF4-FFF2-40B4-BE49-F238E27FC236}">
                <a16:creationId xmlns:a16="http://schemas.microsoft.com/office/drawing/2014/main" id="{550B561F-7438-49B2-BC33-077A317E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2주</a:t>
            </a:r>
          </a:p>
        </p:txBody>
      </p:sp>
      <p:sp>
        <p:nvSpPr>
          <p:cNvPr id="20" name="3주">
            <a:extLst xmlns:a="http://schemas.openxmlformats.org/drawingml/2006/main">
              <a:ext uri="{FF2B5EF4-FFF2-40B4-BE49-F238E27FC236}">
                <a16:creationId xmlns:a16="http://schemas.microsoft.com/office/drawing/2014/main" id="{F6A703F5-4302-4323-A395-9D14E928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3주</a:t>
            </a:r>
          </a:p>
        </p:txBody>
      </p:sp>
      <p:sp>
        <p:nvSpPr>
          <p:cNvPr id="21" name="4주">
            <a:extLst xmlns:a="http://schemas.openxmlformats.org/drawingml/2006/main">
              <a:ext uri="{FF2B5EF4-FFF2-40B4-BE49-F238E27FC236}">
                <a16:creationId xmlns:a16="http://schemas.microsoft.com/office/drawing/2014/main" id="{942F1F16-A365-4EAC-9303-898CE0D1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4주</a:t>
            </a:r>
          </a:p>
        </p:txBody>
      </p:sp>
      <p:sp>
        <p:nvSpPr>
          <p:cNvPr id="22" name="1주">
            <a:extLst xmlns:a="http://schemas.openxmlformats.org/drawingml/2006/main">
              <a:ext uri="{FF2B5EF4-FFF2-40B4-BE49-F238E27FC236}">
                <a16:creationId xmlns:a16="http://schemas.microsoft.com/office/drawing/2014/main" id="{6524E6BD-B3C5-42D4-AF9D-6FAE7ADA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1주</a:t>
            </a:r>
          </a:p>
        </p:txBody>
      </p:sp>
      <p:sp>
        <p:nvSpPr>
          <p:cNvPr id="23" name="2주">
            <a:extLst xmlns:a="http://schemas.openxmlformats.org/drawingml/2006/main">
              <a:ext uri="{FF2B5EF4-FFF2-40B4-BE49-F238E27FC236}">
                <a16:creationId xmlns:a16="http://schemas.microsoft.com/office/drawing/2014/main" id="{0FD9A9BB-E1DE-4FFF-B651-A0F6D263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2주</a:t>
            </a:r>
          </a:p>
        </p:txBody>
      </p:sp>
      <p:sp>
        <p:nvSpPr>
          <p:cNvPr id="24" name="3주">
            <a:extLst xmlns:a="http://schemas.openxmlformats.org/drawingml/2006/main">
              <a:ext uri="{FF2B5EF4-FFF2-40B4-BE49-F238E27FC236}">
                <a16:creationId xmlns:a16="http://schemas.microsoft.com/office/drawing/2014/main" id="{3E513AD1-9145-4EC3-B723-2FE1587B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3주</a:t>
            </a:r>
          </a:p>
        </p:txBody>
      </p:sp>
      <p:sp>
        <p:nvSpPr>
          <p:cNvPr id="25" name="4주">
            <a:extLst xmlns:a="http://schemas.openxmlformats.org/drawingml/2006/main">
              <a:ext uri="{FF2B5EF4-FFF2-40B4-BE49-F238E27FC236}">
                <a16:creationId xmlns:a16="http://schemas.microsoft.com/office/drawing/2014/main" id="{59F0495A-A1A7-4BC3-9E30-36CB498A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60032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4주</a:t>
            </a:r>
          </a:p>
        </p:txBody>
      </p:sp>
      <p:sp>
        <p:nvSpPr>
          <p:cNvPr id="26" name="STT·TTS·공유 화면">
            <a:extLst xmlns:a="http://schemas.openxmlformats.org/drawingml/2006/main">
              <a:ext uri="{FF2B5EF4-FFF2-40B4-BE49-F238E27FC236}">
                <a16:creationId xmlns:a16="http://schemas.microsoft.com/office/drawing/2014/main" id="{888AF1F2-FCAE-49A5-A4D4-8B9EB8D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076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STT·TTS·공유 화면</a:t>
            </a:r>
          </a:p>
        </p:txBody>
      </p:sp>
      <p:sp>
        <p:nvSpPr>
          <p:cNvPr id="27" name="직선 연결선 26">
            <a:extLst xmlns:a="http://schemas.openxmlformats.org/drawingml/2006/main">
              <a:ext uri="{FF2B5EF4-FFF2-40B4-BE49-F238E27FC236}">
                <a16:creationId xmlns:a16="http://schemas.microsoft.com/office/drawing/2014/main" id="{D8869022-CF7E-454E-A6AF-B4324185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779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AB3AE"/>
            </a:solidFill>
          </a:ln>
        </p:spPr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E26600DF-57CF-427D-A331-8E6F1B36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3143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29" name="80시간">
            <a:extLst xmlns:a="http://schemas.openxmlformats.org/drawingml/2006/main">
              <a:ext uri="{FF2B5EF4-FFF2-40B4-BE49-F238E27FC236}">
                <a16:creationId xmlns:a16="http://schemas.microsoft.com/office/drawing/2014/main" id="{904EF4A2-B065-4E37-B060-D2E55FF6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38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80시간</a:t>
            </a:r>
          </a:p>
        </p:txBody>
      </p:sp>
      <p:sp>
        <p:nvSpPr>
          <p:cNvPr id="30" name="모집·동의·수집·주석">
            <a:extLst xmlns:a="http://schemas.openxmlformats.org/drawingml/2006/main">
              <a:ext uri="{FF2B5EF4-FFF2-40B4-BE49-F238E27FC236}">
                <a16:creationId xmlns:a16="http://schemas.microsoft.com/office/drawing/2014/main" id="{B0D17F90-B84D-47DC-9F05-8B0EB821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5675"/>
            <a:ext cx="3076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모집·동의·수집·주석</a:t>
            </a:r>
          </a:p>
        </p:txBody>
      </p:sp>
      <p:sp>
        <p:nvSpPr>
          <p:cNvPr id="31" name="직선 연결선 30">
            <a:extLst xmlns:a="http://schemas.openxmlformats.org/drawingml/2006/main">
              <a:ext uri="{FF2B5EF4-FFF2-40B4-BE49-F238E27FC236}">
                <a16:creationId xmlns:a16="http://schemas.microsoft.com/office/drawing/2014/main" id="{FB3D2B44-1628-4058-B2F6-D1029920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779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AB3AE"/>
            </a:solidFill>
          </a:ln>
        </p:spPr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CEAA164E-7B3B-46EE-BFFD-FFC83039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95675"/>
            <a:ext cx="50577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3" name="56시간">
            <a:extLst xmlns:a="http://schemas.openxmlformats.org/drawingml/2006/main">
              <a:ext uri="{FF2B5EF4-FFF2-40B4-BE49-F238E27FC236}">
                <a16:creationId xmlns:a16="http://schemas.microsoft.com/office/drawing/2014/main" id="{C5ED6ECE-5DF7-4A82-92BB-F7C3AA38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56시간</a:t>
            </a:r>
          </a:p>
        </p:txBody>
      </p:sp>
      <p:sp>
        <p:nvSpPr>
          <p:cNvPr id="34" name="자막 공백·오류 처리">
            <a:extLst xmlns:a="http://schemas.openxmlformats.org/drawingml/2006/main">
              <a:ext uri="{FF2B5EF4-FFF2-40B4-BE49-F238E27FC236}">
                <a16:creationId xmlns:a16="http://schemas.microsoft.com/office/drawing/2014/main" id="{5320B93B-C70B-48D7-B623-5AF09DED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3076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자막 공백·오류 처리</a:t>
            </a:r>
          </a:p>
        </p:txBody>
      </p:sp>
      <p:sp>
        <p:nvSpPr>
          <p:cNvPr id="35" name="직선 연결선 34">
            <a:extLst xmlns:a="http://schemas.openxmlformats.org/drawingml/2006/main">
              <a:ext uri="{FF2B5EF4-FFF2-40B4-BE49-F238E27FC236}">
                <a16:creationId xmlns:a16="http://schemas.microsoft.com/office/drawing/2014/main" id="{958A2C81-553E-422B-9833-32449069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779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AB3AE"/>
            </a:solidFill>
          </a:ln>
        </p:spPr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63BE951E-1F45-479E-A9D5-31826C86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2505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7" name="40시간">
            <a:extLst xmlns:a="http://schemas.openxmlformats.org/drawingml/2006/main">
              <a:ext uri="{FF2B5EF4-FFF2-40B4-BE49-F238E27FC236}">
                <a16:creationId xmlns:a16="http://schemas.microsoft.com/office/drawing/2014/main" id="{2654CA97-288A-4275-B32D-CD112F09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00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40시간</a:t>
            </a:r>
          </a:p>
        </p:txBody>
      </p:sp>
      <p:sp>
        <p:nvSpPr>
          <p:cNvPr id="38" name="사용성·조건부 방향 시험">
            <a:extLst xmlns:a="http://schemas.openxmlformats.org/drawingml/2006/main">
              <a:ext uri="{FF2B5EF4-FFF2-40B4-BE49-F238E27FC236}">
                <a16:creationId xmlns:a16="http://schemas.microsoft.com/office/drawing/2014/main" id="{8E33A2CE-0DAA-4DE0-A6F5-4051B0DD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3076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사용성·조건부 방향 시험</a:t>
            </a:r>
          </a:p>
        </p:txBody>
      </p:sp>
      <p:sp>
        <p:nvSpPr>
          <p:cNvPr id="39" name="직선 연결선 38">
            <a:extLst xmlns:a="http://schemas.openxmlformats.org/drawingml/2006/main">
              <a:ext uri="{FF2B5EF4-FFF2-40B4-BE49-F238E27FC236}">
                <a16:creationId xmlns:a16="http://schemas.microsoft.com/office/drawing/2014/main" id="{EEFA28F4-A0D7-4F6C-B5C3-77DC105F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67275"/>
            <a:ext cx="779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AB3AE"/>
            </a:solidFill>
          </a:ln>
        </p:spPr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BE59AFAF-339D-481D-8BB7-E5719DA4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467225"/>
            <a:ext cx="1866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41" name="32시간">
            <a:extLst xmlns:a="http://schemas.openxmlformats.org/drawingml/2006/main">
              <a:ext uri="{FF2B5EF4-FFF2-40B4-BE49-F238E27FC236}">
                <a16:creationId xmlns:a16="http://schemas.microsoft.com/office/drawing/2014/main" id="{821503C5-2749-4C0B-977B-5D577B2D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32시간</a:t>
            </a:r>
          </a:p>
        </p:txBody>
      </p:sp>
      <p:sp>
        <p:nvSpPr>
          <p:cNvPr id="42" name="최종 점검·결과·발표">
            <a:extLst xmlns:a="http://schemas.openxmlformats.org/drawingml/2006/main">
              <a:ext uri="{FF2B5EF4-FFF2-40B4-BE49-F238E27FC236}">
                <a16:creationId xmlns:a16="http://schemas.microsoft.com/office/drawing/2014/main" id="{E785339C-8CA1-4627-A72A-F67D8D4F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3076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최종 점검·결과·발표</a:t>
            </a:r>
          </a:p>
        </p:txBody>
      </p:sp>
      <p:sp>
        <p:nvSpPr>
          <p:cNvPr id="43" name="직선 연결선 42">
            <a:extLst xmlns:a="http://schemas.openxmlformats.org/drawingml/2006/main">
              <a:ext uri="{FF2B5EF4-FFF2-40B4-BE49-F238E27FC236}">
                <a16:creationId xmlns:a16="http://schemas.microsoft.com/office/drawing/2014/main" id="{9C84570C-B4DF-4081-ABD0-2D16FF2A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53050"/>
            <a:ext cx="779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AB3AE"/>
            </a:solidFill>
          </a:ln>
        </p:spPr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43C4FB5E-8636-43AD-8783-CA0EAC3F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953000"/>
            <a:ext cx="1866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45" name="32시간">
            <a:extLst xmlns:a="http://schemas.openxmlformats.org/drawingml/2006/main">
              <a:ext uri="{FF2B5EF4-FFF2-40B4-BE49-F238E27FC236}">
                <a16:creationId xmlns:a16="http://schemas.microsoft.com/office/drawing/2014/main" id="{BE81EB6B-3A47-40C0-BDEA-9AA5E67D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981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32시간</a:t>
            </a:r>
          </a:p>
        </p:txBody>
      </p:sp>
      <p:sp>
        <p:nvSpPr>
          <p:cNvPr id="46" name="합계 240시간 계획. 모집·주석 56시간에는 대표자 정답 검토 8시간을">
            <a:extLst xmlns:a="http://schemas.openxmlformats.org/drawingml/2006/main">
              <a:ext uri="{FF2B5EF4-FFF2-40B4-BE49-F238E27FC236}">
                <a16:creationId xmlns:a16="http://schemas.microsoft.com/office/drawing/2014/main" id="{B635F3C5-CC31-45AC-B726-7EF0DADC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101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합계 240시간 계획. 모집·주석 56시간에는 대표자 정답 검토 8시간을 포함합니다.</a:t>
            </a:r>
          </a:p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방향 시험은 장치·시간 확보 시 최대 8시간이며, 미확보 시 수동 좌석과 미확정 표시를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2111695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AC2D427-E826-9449-7822-0C75CBA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E90F90-A1CB-0A56-D073-BCB4775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3. 상세 설명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B77E8C0-D006-58D4-4789-4D78B9B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25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① 기획내용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개발 자원과 예산</a:t>
            </a:r>
            <a:endParaRPr sz="1800" b="1">
              <a:solidFill>
                <a:srgbClr val="00206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E3FD1DD-9B94-D490-3FB4-41D71B87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3F16E6-5FE4-B3E6-2BF7-4FDC50A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0" name="12">
            <a:extLst xmlns:a="http://schemas.openxmlformats.org/drawingml/2006/main">
              <a:ext uri="{FF2B5EF4-FFF2-40B4-BE49-F238E27FC236}">
                <a16:creationId xmlns:a16="http://schemas.microsoft.com/office/drawing/2014/main" id="{D2426D54-8745-4985-8FB9-E8159D55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24" name="표 21"/>
          <p:cNvGraphicFramePr/>
          <p:nvPr/>
        </p:nvGraphicFramePr>
        <p:xfrm>
          <a:off xmlns:a="http://schemas.openxmlformats.org/drawingml/2006/main" x="6048375" y="2228850"/>
          <a:ext xmlns:a="http://schemas.openxmlformats.org/drawingml/2006/main" cx="54864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486025"/>
              </a:tblGrid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산정 근거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금액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 구매·대여 상한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낭독·당사자·청취 평가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330,000원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주석 8시간 × 2만원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160,000원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2회 × 100,000원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교통·소모품 예산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930,000원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자체 예산안 93만원 · 참여자·외부 주석 검토의 산정 기준은 다음 쪽">
            <a:extLst xmlns:a="http://schemas.openxmlformats.org/drawingml/2006/main">
              <a:ext uri="{FF2B5EF4-FFF2-40B4-BE49-F238E27FC236}">
                <a16:creationId xmlns:a16="http://schemas.microsoft.com/office/drawing/2014/main" id="{EEAD7F48-E7B4-480F-8374-C1AD1B57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자체 예산안 93만원 · 참여자·외부 주석 검토의 산정 기준은 다음 쪽</a:t>
            </a:r>
          </a:p>
        </p:txBody>
      </p:sp>
      <p:sp>
        <p:nvSpPr>
          <p:cNvPr id="14" name="견적·섭외 전 가정입니다. 개발 240시간은 대표자 투입이며, 투명 패널">
            <a:extLst xmlns:a="http://schemas.openxmlformats.org/drawingml/2006/main">
              <a:ext uri="{FF2B5EF4-FFF2-40B4-BE49-F238E27FC236}">
                <a16:creationId xmlns:a16="http://schemas.microsoft.com/office/drawing/2014/main" id="{894D62E4-B24C-4FDB-92B7-9FA4440C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견적·섭외 전 가정입니다. 개발 240시간은 대표자 투입이며, 투명 패널 제작·유료 API는 예산 밖 후속 과제입니다.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81025" y="2314575"/>
          <a:ext xmlns:a="http://schemas.openxmlformats.org/drawingml/2006/main" cx="52197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3f570f5b4944e8"/>
          </a:graphicData>
        </a:graphic>
      </p:graphicFrame>
    </p:spTree>
    <p:extLst>
      <p:ext uri="{BB962C8B-B14F-4D97-AF65-F5344CB8AC3E}">
        <p14:creationId xmlns:p14="http://schemas.microsoft.com/office/powerpoint/2010/main" val="12111695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AC2D427-E826-9449-7822-0C75CBA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E90F90-A1CB-0A56-D073-BCB4775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3. 상세 설명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B77E8C0-D006-58D4-4789-4D78B9B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25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① 기획내용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참여자·시간·보상 계획</a:t>
            </a:r>
            <a:endParaRPr sz="1800" b="1">
              <a:solidFill>
                <a:srgbClr val="00206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E3FD1DD-9B94-D490-3FB4-41D71B87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3F16E6-5FE4-B3E6-2BF7-4FDC50A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0" name="13">
            <a:extLst xmlns:a="http://schemas.openxmlformats.org/drawingml/2006/main">
              <a:ext uri="{FF2B5EF4-FFF2-40B4-BE49-F238E27FC236}">
                <a16:creationId xmlns:a16="http://schemas.microsoft.com/office/drawing/2014/main" id="{9A3D6A05-C220-4B65-8E50-53FBDE45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20" name="표 18"/>
          <p:cNvGraphicFramePr/>
          <p:nvPr/>
        </p:nvGraphicFramePr>
        <p:xfrm>
          <a:off xmlns:a="http://schemas.openxmlformats.org/drawingml/2006/main" x="561975" y="2238375"/>
          <a:ext xmlns:a="http://schemas.openxmlformats.org/drawingml/2006/main" cx="110680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943225"/>
                <a:gridCol w="2724150"/>
                <a:gridCol w="3019425"/>
              </a:tblGrid>
              <a:tr h="5318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활동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참여자 계획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시간·횟수 가정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산정 금액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낭독·모의 회의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낭독 가능한 성인 8명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1인 90분, 1회 참여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8명 × 2만원 = 16만원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당사자 사용성 평가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문자·입력 사용 청각장애인 4명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1인 45분, 개별 과업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4명 × 3만원 = 12만원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TTS 청취 평가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낭독 참여자 중 청취 가능 5명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20분, 20문장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5명 × 1만원 = 5만원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교차 주석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대표자 + 외부 검토자 1명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8시간, 독립 표시·합의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8시간 × 2만원 = 16만원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음성·접근성 자문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전문가 섭외 예정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60분 자문 2회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2회 × 10만원 = 20만원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낭독 8명은 4명씩 2조로 구성합니다. 각 조 15분 회의 3회로 총 6">
            <a:extLst xmlns:a="http://schemas.openxmlformats.org/drawingml/2006/main">
              <a:ext uri="{FF2B5EF4-FFF2-40B4-BE49-F238E27FC236}">
                <a16:creationId xmlns:a16="http://schemas.microsoft.com/office/drawing/2014/main" id="{EF23BB5A-A773-491D-A2F4-3DCFB3E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낭독 8명은 4명씩 2조로 구성합니다. 각 조 15분 회의 3회로 총 6회를 수집합니다.</a:t>
            </a:r>
          </a:p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90분 구성: 안내·동의 10분, 낭독 20분, 회의 45분, 휴식 15분. 낭독·회의 실비는 합산입니다.</a:t>
            </a:r>
          </a:p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전원 모집·합의 전입니다. 미확보 시 회차를 줄이고, 보상·주석 조건과 실제 수행 범위를 기록합니다.</a:t>
            </a:r>
          </a:p>
        </p:txBody>
      </p:sp>
    </p:spTree>
    <p:extLst>
      <p:ext uri="{BB962C8B-B14F-4D97-AF65-F5344CB8AC3E}">
        <p14:creationId xmlns:p14="http://schemas.microsoft.com/office/powerpoint/2010/main" val="12111695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D77ECB62-AECE-17BB-7785-7B5CD791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5337208-DE8E-33CB-66A8-E31D8A0A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3. 상세 설명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FB506CC-5A95-6B54-A422-04027CD3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25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② 활용 데이터셋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명칭·출처·수집·이용조건</a:t>
            </a:r>
            <a:endParaRPr sz="1800" b="1" u="none" cap="none">
              <a:solidFill>
                <a:srgbClr val="00206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F4003C0-6934-6CCF-2036-255627D3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12EB376-CAAC-F5CE-7C61-F541B065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5" name="14">
            <a:extLst xmlns:a="http://schemas.openxmlformats.org/drawingml/2006/main">
              <a:ext uri="{FF2B5EF4-FFF2-40B4-BE49-F238E27FC236}">
                <a16:creationId xmlns:a16="http://schemas.microsoft.com/office/drawing/2014/main" id="{4C964EA7-8268-4E09-B822-936B0B3A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25" name="표 23"/>
          <p:cNvGraphicFramePr/>
          <p:nvPr/>
        </p:nvGraphicFramePr>
        <p:xfrm>
          <a:off xmlns:a="http://schemas.openxmlformats.org/drawingml/2006/main" x="561975" y="2181225"/>
          <a:ext xmlns:a="http://schemas.openxmlformats.org/drawingml/2006/main" cx="1106805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95650"/>
                <a:gridCol w="3714750"/>
                <a:gridCol w="4057650"/>
              </a:tblGrid>
              <a:tr h="6438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자료명과 출처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목적과 수집 방법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이용조건과 평가 방법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대본 meeting.ts</a:t>
                      </a:r>
                    </a:p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보유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대본 재생과 화면 전환 시험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권리를 확인한 자체 문장 사용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제3자 인용·민감정보 제거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시험에만 사용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VE-KO-60 / 자체 작성 예정</a:t>
                      </a:r>
                    </a:p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기관명·숫자·일반문장 각 20개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 8명 낭독·모의 회의 수집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마이크·거리·소음 조건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참여·녹음 동의와 철회 절차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화자별 개발 4 / 검증 2 / 시험 2명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VE-MEET-6 / 자체 수집 예정</a:t>
                      </a:r>
                    </a:p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 소규모 회의 6회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8명이 2조 × 3회 참여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말소리·자막 공백·좌석 구간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원음 접근 제한, 평가 후 30일 내 삭제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대표자·외부 검토자 독립 표시·합의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asr-results.json</a:t>
                      </a:r>
                    </a:p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합성 평가 결과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평가 이력 확인용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성능 수치에서 제외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원음·환경 재현 후 별도 검토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개발 자료와 최종 시험 자료는 나눕니다. 외부 API·데이터는 출처와 이">
            <a:extLst xmlns:a="http://schemas.openxmlformats.org/drawingml/2006/main">
              <a:ext uri="{FF2B5EF4-FFF2-40B4-BE49-F238E27FC236}">
                <a16:creationId xmlns:a16="http://schemas.microsoft.com/office/drawing/2014/main" id="{E26BD2A3-4554-40F3-A714-CF11094F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개발 자료와 최종 시험 자료는 나눕니다. 외부 API·데이터는 출처와 이용조건 확인 후 선택적으로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24103471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D77ECB62-AECE-17BB-7785-7B5CD791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5337208-DE8E-33CB-66A8-E31D8A0A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3. 상세 설명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FB506CC-5A95-6B54-A422-04027CD3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25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② 활용 데이터셋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평가 방법과 목표</a:t>
            </a:r>
            <a:endParaRPr sz="1800" b="1" u="none" cap="none">
              <a:solidFill>
                <a:srgbClr val="00206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F4003C0-6934-6CCF-2036-255627D3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004290"/>
            <a:ext cx="11403105" cy="4105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12EB376-CAAC-F5CE-7C61-F541B065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5" name="15">
            <a:extLst xmlns:a="http://schemas.openxmlformats.org/drawingml/2006/main">
              <a:ext uri="{FF2B5EF4-FFF2-40B4-BE49-F238E27FC236}">
                <a16:creationId xmlns:a16="http://schemas.microsoft.com/office/drawing/2014/main" id="{4AABB0F3-287A-4A8B-839F-D92D3694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25" name="표 23"/>
          <p:cNvGraphicFramePr/>
          <p:nvPr/>
        </p:nvGraphicFramePr>
        <p:xfrm>
          <a:off xmlns:a="http://schemas.openxmlformats.org/drawingml/2006/main" x="561975" y="2181225"/>
          <a:ext xmlns:a="http://schemas.openxmlformats.org/drawingml/2006/main" cx="1106805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5286375"/>
                <a:gridCol w="3419475"/>
              </a:tblGrid>
              <a:tr h="5476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대상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본선 목표값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자막 오류·지연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CER, 발화 끝~최종 자막 지연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조용한 환경 / 거리 1.5m / 겹침 구분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조용한 조건 CER ≤15%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중앙값 ≤1.5초, p95 ≤3초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TTS 자연스러움·발음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청취 가능한 낭독 참여자 5명, 20문장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당사자 4명은 입력·중지 과업 평가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자연스러움 평균 ≥4/5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이름·숫자 오류는 건별 공개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익명 방향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 정확도 = 일치 건 / 확정 건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일치율 = 일치 건 / 전체 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 정확도 ≥80%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미확정 건 / 전체 건 ≤30%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자막 공백 후보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사람이 표시한 정답과 탐지 결과 비교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자료로 규칙을 정한 뒤 시험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재현율 ≥80% / 정밀도 ≥70%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공백·겹침·오류별 건수 공개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참여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당사자 4명, 동일 대화 클립 과업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자막·VoiceEye 순서 교대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 확인·발언 성공·재질문 부담</a:t>
                      </a:r>
                    </a:p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탐색 평가, 실제 회의 효과와 구분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모두 목표값이며 실측값이 아닙니다. CER는 문자 오류율입니다. 방향 추">
            <a:extLst xmlns:a="http://schemas.openxmlformats.org/drawingml/2006/main">
              <a:ext uri="{FF2B5EF4-FFF2-40B4-BE49-F238E27FC236}">
                <a16:creationId xmlns:a16="http://schemas.microsoft.com/office/drawing/2014/main" id="{62F86A5B-E837-4644-9471-DB010142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모두 목표값이며 실측값이 아닙니다. CER는 문자 오류율입니다. 방향 추정은 장치 확보 시 시험하며 전체 좌석 일치율도 공개합니다.</a:t>
            </a:r>
          </a:p>
        </p:txBody>
      </p:sp>
    </p:spTree>
    <p:extLst>
      <p:ext uri="{BB962C8B-B14F-4D97-AF65-F5344CB8AC3E}">
        <p14:creationId xmlns:p14="http://schemas.microsoft.com/office/powerpoint/2010/main" val="24103471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AF1E629-4104-6111-A87D-6B3273B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0ED624E-F959-CF4C-3B53-18EB0400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3. 상세 설명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87EE23B-59D4-55EE-1031-FE48755A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25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③ 바이브코딩 및 프롬프트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AI 개발도구 활용계획</a:t>
            </a:r>
            <a:endParaRPr sz="1800" b="1" i="0" u="none" kern="1200" cap="none" spc="0" baseline="0">
              <a:ln>
                <a:noFill/>
              </a:ln>
              <a:solidFill>
                <a:srgbClr val="00206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B95F13CE-B20F-EEBD-80DB-CE7B3F65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285808"/>
            <a:ext cx="11403105" cy="38238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0CD8FE-C94D-8EE4-4C93-88BBE9DB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5" name="16">
            <a:extLst xmlns:a="http://schemas.openxmlformats.org/drawingml/2006/main">
              <a:ext uri="{FF2B5EF4-FFF2-40B4-BE49-F238E27FC236}">
                <a16:creationId xmlns:a16="http://schemas.microsoft.com/office/drawing/2014/main" id="{4961EAC8-6B74-45D4-A68D-825FB23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26" name="표 24"/>
          <p:cNvGraphicFramePr/>
          <p:nvPr/>
        </p:nvGraphicFramePr>
        <p:xfrm>
          <a:off xmlns:a="http://schemas.openxmlformats.org/drawingml/2006/main" x="561975" y="2362200"/>
          <a:ext xmlns:a="http://schemas.openxmlformats.org/drawingml/2006/main" cx="11068050" cy="2638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8425"/>
                <a:gridCol w="4429125"/>
                <a:gridCol w="4000500"/>
              </a:tblGrid>
              <a:tr h="52768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지원 항목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개발할 내용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기록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</a:tr>
              <a:tr h="52768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바이브코딩 토큰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STT 시작·중지와 중복 방지 코드</a:t>
                      </a:r>
                    </a:p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접근성 화면과 반복 시험 개선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프롬프트와 코드 변경분</a:t>
                      </a:r>
                    </a:p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내용과 시험 결과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768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개발지원도구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실험실 제공 목록 확인 후 도구 선택</a:t>
                      </a:r>
                    </a:p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자막 상태·공백 표시 구현과 반복 시험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도구명·버전·사용 날짜</a:t>
                      </a:r>
                    </a:p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코드와 직접 수정한 부분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768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자원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제공 환경에서 STT 엔진 비교</a:t>
                      </a:r>
                    </a:p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처리에 동의받은 자료 사용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설정·소요 자원</a:t>
                      </a:r>
                    </a:p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CER·지연 결과 CSV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768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멘토링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음성 처리와 접근성 평가 자문</a:t>
                      </a:r>
                    </a:p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사례와 개선안 검토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자문 내용과 수정 내역</a:t>
                      </a:r>
                    </a:p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기능별 시험 결과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TT 후보: faster-whisper · 기본 TTS: 기기에 설치된">
            <a:extLst xmlns:a="http://schemas.openxmlformats.org/drawingml/2006/main">
              <a:ext uri="{FF2B5EF4-FFF2-40B4-BE49-F238E27FC236}">
                <a16:creationId xmlns:a16="http://schemas.microsoft.com/office/drawing/2014/main" id="{6C62E92F-E4D8-456C-9400-78388335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10200"/>
            <a:ext cx="10963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STT 후보: faster-whisper · 기본 TTS: 기기에 설치된 한국어 음성</a:t>
            </a:r>
          </a:p>
        </p:txBody>
      </p:sp>
      <p:sp>
        <p:nvSpPr>
          <p:cNvPr id="18" name="세부 도구명과 사용량은 플랫폼 제공 목록·이용 범위를 확인한 뒤 확정합니">
            <a:extLst xmlns:a="http://schemas.openxmlformats.org/drawingml/2006/main">
              <a:ext uri="{FF2B5EF4-FFF2-40B4-BE49-F238E27FC236}">
                <a16:creationId xmlns:a16="http://schemas.microsoft.com/office/drawing/2014/main" id="{40E594CC-2AFB-4B4E-BBB9-B5E4A485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648325"/>
            <a:ext cx="10963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세부 도구명과 사용량은 플랫폼 제공 목록·이용 범위를 확인한 뒤 확정합니다.</a:t>
            </a:r>
          </a:p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모두의 AI 실험실 활용 계획이며 기존 구현에는 사용하지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255563954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AF1E629-4104-6111-A87D-6B3273B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0ED624E-F959-CF4C-3B53-18EB0400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3. 상세 설명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87EE23B-59D4-55EE-1031-FE48755A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25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③ 바이브코딩 및 프롬프트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950" b="1" u="none" cap="none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실제 사용할 프롬프트</a:t>
            </a:r>
            <a:endParaRPr sz="1800" b="1" i="0" u="none" kern="1200" cap="none" spc="0" baseline="0">
              <a:ln>
                <a:noFill/>
              </a:ln>
              <a:solidFill>
                <a:srgbClr val="00206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B95F13CE-B20F-EEBD-80DB-CE7B3F65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2285808"/>
            <a:ext cx="11403105" cy="38238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0CD8FE-C94D-8EE4-4C93-88BBE9DB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5" name="17">
            <a:extLst xmlns:a="http://schemas.openxmlformats.org/drawingml/2006/main">
              <a:ext uri="{FF2B5EF4-FFF2-40B4-BE49-F238E27FC236}">
                <a16:creationId xmlns:a16="http://schemas.microsoft.com/office/drawing/2014/main" id="{1ABD945F-F9BA-4982-848A-2FE283EA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6" name="STT 재시작 오류 시험">
            <a:extLst xmlns:a="http://schemas.openxmlformats.org/drawingml/2006/main">
              <a:ext uri="{FF2B5EF4-FFF2-40B4-BE49-F238E27FC236}">
                <a16:creationId xmlns:a16="http://schemas.microsoft.com/office/drawing/2014/main" id="{29CCEF93-B6FC-46C6-A9F7-239C7501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574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STT 재시작 오류 시험</a:t>
            </a:r>
          </a:p>
        </p:txBody>
      </p:sp>
      <p:sp>
        <p:nvSpPr>
          <p:cNvPr id="17" name="“LiveTranscriber를 중지한 직후 다시 시작할 때, 이전 on">
            <a:extLst xmlns:a="http://schemas.openxmlformats.org/drawingml/2006/main">
              <a:ext uri="{FF2B5EF4-FFF2-40B4-BE49-F238E27FC236}">
                <a16:creationId xmlns:a16="http://schemas.microsoft.com/office/drawing/2014/main" id="{AB856CB6-E5B7-4B7B-B6F9-9530FE71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051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“LiveTranscriber를 중지한 직후 다시 시작할 때, 이전 onend가 늦게 도착하는 경우와</a:t>
            </a:r>
          </a:p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같은 확정 결과를 다시 받는 경우를 시험해줘. 이전 인식기의 콜백과 중복 결과를</a:t>
            </a:r>
          </a:p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무시하도록 수정해줘. 모의 API 시험과 실제 마이크 시험 결과는 따로 기록해줘.”</a:t>
            </a:r>
          </a:p>
        </p:txBody>
      </p:sp>
      <p:sp>
        <p:nvSpPr>
          <p:cNvPr id="18" name="직선 연결선 17">
            <a:extLst xmlns:a="http://schemas.openxmlformats.org/drawingml/2006/main">
              <a:ext uri="{FF2B5EF4-FFF2-40B4-BE49-F238E27FC236}">
                <a16:creationId xmlns:a16="http://schemas.microsoft.com/office/drawing/2014/main" id="{69B98230-2551-4DF3-A113-F06A517F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909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AB3AE"/>
            </a:solidFill>
          </a:ln>
        </p:spPr>
      </p:sp>
      <p:sp>
        <p:nvSpPr>
          <p:cNvPr id="19" name="자막 공백 찾기">
            <a:extLst xmlns:a="http://schemas.openxmlformats.org/drawingml/2006/main">
              <a:ext uri="{FF2B5EF4-FFF2-40B4-BE49-F238E27FC236}">
                <a16:creationId xmlns:a16="http://schemas.microsoft.com/office/drawing/2014/main" id="{A3CD7A7D-4A75-4E8F-A264-D89BE3C9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719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자막 공백 찾기</a:t>
            </a:r>
          </a:p>
        </p:txBody>
      </p:sp>
      <p:sp>
        <p:nvSpPr>
          <p:cNvPr id="20" name="“말소리 구간, 자막, 기기 오류 시각을 비교해 말은 있었지만 자막이 없">
            <a:extLst xmlns:a="http://schemas.openxmlformats.org/drawingml/2006/main">
              <a:ext uri="{FF2B5EF4-FFF2-40B4-BE49-F238E27FC236}">
                <a16:creationId xmlns:a16="http://schemas.microsoft.com/office/drawing/2014/main" id="{D3DFAF82-AD13-4B7D-974E-49F2492B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10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“말소리 구간, 자막, 기기 오류 시각을 비교해 말은 있었지만 자막이 없는 구간을 찾아줘.</a:t>
            </a:r>
          </a:p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침묵은 제외하고 시작·끝 시각과 판단 근거를 남겨줘. 없는 문장을 추측해 채우지 말고,</a:t>
            </a:r>
          </a:p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잘못 표시하거나 놓치는 사례를 함께 시험해줘.”</a:t>
            </a:r>
          </a:p>
        </p:txBody>
      </p:sp>
      <p:sp>
        <p:nvSpPr>
          <p:cNvPr id="21" name="생성 코드는 직접 읽고 시험합니다. 오류 재현·수정·재시험 결과와 권한 ">
            <a:extLst xmlns:a="http://schemas.openxmlformats.org/drawingml/2006/main">
              <a:ext uri="{FF2B5EF4-FFF2-40B4-BE49-F238E27FC236}">
                <a16:creationId xmlns:a16="http://schemas.microsoft.com/office/drawing/2014/main" id="{D193041D-68F6-44B8-B3A5-3FCE8C3F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생성 코드는 직접 읽고 시험합니다. 오류 재현·수정·재시험 결과와 권한 요청·외부 전송 코드를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55563954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EFF753A-C286-D33D-1144-2BF9CBB5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AFBA1D1-A700-F2A4-D841-EAC6AA88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4. 기대 효과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DC4053FC-F7C1-46F1-9730-73427A28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1591488"/>
            <a:ext cx="11403105" cy="4518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B8905D0-3F17-DAF9-DD9C-8DF0E6D9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0" name="18">
            <a:extLst xmlns:a="http://schemas.openxmlformats.org/drawingml/2006/main">
              <a:ext uri="{FF2B5EF4-FFF2-40B4-BE49-F238E27FC236}">
                <a16:creationId xmlns:a16="http://schemas.microsoft.com/office/drawing/2014/main" id="{99E4C477-2426-41D5-8389-C7D65EA4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1" name="초기 적용처와 확인할 효과">
            <a:extLst xmlns:a="http://schemas.openxmlformats.org/drawingml/2006/main">
              <a:ext uri="{FF2B5EF4-FFF2-40B4-BE49-F238E27FC236}">
                <a16:creationId xmlns:a16="http://schemas.microsoft.com/office/drawing/2014/main" id="{27136787-3970-4A00-A87D-7871F21E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초기 적용처와 확인할 효과</a:t>
            </a:r>
          </a:p>
        </p:txBody>
      </p:sp>
      <p:graphicFrame>
        <p:nvGraphicFramePr>
          <p:cNvPr id="21" name="표 19"/>
          <p:cNvGraphicFramePr/>
          <p:nvPr/>
        </p:nvGraphicFramePr>
        <p:xfrm>
          <a:off xmlns:a="http://schemas.openxmlformats.org/drawingml/2006/main" x="561975" y="2266950"/>
          <a:ext xmlns:a="http://schemas.openxmlformats.org/drawingml/2006/main" cx="1106805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10025"/>
                <a:gridCol w="410527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대상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효과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조사와 도입 계획</a:t>
                      </a:r>
                    </a:p>
                  </a:txBody>
                  <a:tcPr marL="91440" marR="91440" marT="45720" marB="45720" anchor="ctr">
                    <a:solidFill>
                      <a:srgbClr val="ECECE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취업지원 소그룹 상담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질문과 의견을 전달했는지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다시 묻는 부담이 줄었는지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 클립 과업으로 사용성 비교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소그룹 적용은 후속 검증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장애인 고용 사업장 팀 회의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놓친 내용을 확인하는 시간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참석자·담당자의 재사용 의향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담당자 2곳 인터뷰 목표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실증기관 모집 예정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기관용 운영 지원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설치·교육 지원의 필요성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확인 기능에 대한 지불 의향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이용료와 운영 지원비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가격은 인터뷰 후 검토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노트북 MVP 평가 후 반복 사용과 기관 도입을 검토합니다.&#10;투명 패널,">
            <a:extLst xmlns:a="http://schemas.openxmlformats.org/drawingml/2006/main">
              <a:ext uri="{FF2B5EF4-FFF2-40B4-BE49-F238E27FC236}">
                <a16:creationId xmlns:a16="http://schemas.microsoft.com/office/drawing/2014/main" id="{703FEF0A-2856-4880-9AF7-72F42227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578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노트북 MVP 평가 후 반복 사용과 기관 도입을 검토합니다.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투명 패널, 거치형·독립형 기기, 스마트글래스는 후속 과제입니다.</a:t>
            </a:r>
          </a:p>
        </p:txBody>
      </p:sp>
    </p:spTree>
    <p:extLst>
      <p:ext uri="{BB962C8B-B14F-4D97-AF65-F5344CB8AC3E}">
        <p14:creationId xmlns:p14="http://schemas.microsoft.com/office/powerpoint/2010/main" val="235154756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1">
            <a:extLst xmlns:a="http://schemas.openxmlformats.org/drawingml/2006/main">
              <a:ext uri="{FF2B5EF4-FFF2-40B4-BE49-F238E27FC236}">
                <a16:creationId xmlns:a16="http://schemas.microsoft.com/office/drawing/2014/main" id="{3EFF753A-C286-D33D-1144-2BF9CBB5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27099"/>
            <a:ext cx="11899900" cy="5368679"/>
          </a:xfrm>
          <a:prstGeom xmlns:a="http://schemas.openxmlformats.org/drawingml/2006/main" prst="roundRect">
            <a:avLst>
              <a:gd name="adj" fmla="val 2243"/>
            </a:avLst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AFBA1D1-A700-F2A4-D841-EAC6AA88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1" y="1005301"/>
            <a:ext cx="507364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02060"/>
                </a:solidFill>
                <a:latin typeface="+mn-ea"/>
                <a:ea typeface="+mn-ea"/>
                <a:cs typeface="+mn-ea"/>
              </a:rPr>
              <a:t>4. 기대 효과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DC4053FC-F7C1-46F1-9730-73427A28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47" y="1591488"/>
            <a:ext cx="11403105" cy="4518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Y견명조"/>
              <a:ea typeface="HY견명조"/>
              <a:cs typeface="HY견명조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B8905D0-3F17-DAF9-DD9C-8DF0E6D9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보이스아이(VoiceEye)</a:t>
            </a:r>
          </a:p>
        </p:txBody>
      </p:sp>
      <p:sp>
        <p:nvSpPr>
          <p:cNvPr id="10" name="19">
            <a:extLst xmlns:a="http://schemas.openxmlformats.org/drawingml/2006/main">
              <a:ext uri="{FF2B5EF4-FFF2-40B4-BE49-F238E27FC236}">
                <a16:creationId xmlns:a16="http://schemas.microsoft.com/office/drawing/2014/main" id="{754C4003-86AC-484D-9B5C-9C65509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15075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11" name="본선 결과물: 한국어 회의용 MVP와 조건별 시험 결과">
            <a:extLst xmlns:a="http://schemas.openxmlformats.org/drawingml/2006/main">
              <a:ext uri="{FF2B5EF4-FFF2-40B4-BE49-F238E27FC236}">
                <a16:creationId xmlns:a16="http://schemas.microsoft.com/office/drawing/2014/main" id="{9E49E318-16F3-473E-9593-D00873AF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90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본선 결과물: 한국어 회의용 MVP와 조건별 시험 결과</a:t>
            </a:r>
          </a:p>
        </p:txBody>
      </p:sp>
      <p:sp>
        <p:nvSpPr>
          <p:cNvPr id="12" name="현재 확인한 것">
            <a:extLst xmlns:a="http://schemas.openxmlformats.org/drawingml/2006/main">
              <a:ext uri="{FF2B5EF4-FFF2-40B4-BE49-F238E27FC236}">
                <a16:creationId xmlns:a16="http://schemas.microsoft.com/office/drawing/2014/main" id="{2DADD92F-5DC8-45BD-AAD2-5218F8C0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66975"/>
            <a:ext cx="518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현재 확인한 것</a:t>
            </a:r>
          </a:p>
        </p:txBody>
      </p:sp>
      <p:sp>
        <p:nvSpPr>
          <p:cNvPr id="13" name="문장 작성, 미리보기, 전송 버튼&#10;기기 내 한국어 음성 재생과 중지&#10;중지">
            <a:extLst xmlns:a="http://schemas.openxmlformats.org/drawingml/2006/main">
              <a:ext uri="{FF2B5EF4-FFF2-40B4-BE49-F238E27FC236}">
                <a16:creationId xmlns:a16="http://schemas.microsoft.com/office/drawing/2014/main" id="{8473DE92-D937-4CDB-81B8-698F42C7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52750"/>
            <a:ext cx="51911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문장 작성, 미리보기, 전송 버튼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기기 내 한국어 음성 재생과 중지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중지한 문장은 완료 기록에서 제외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STT·TTS 회귀시험 16개와 타입 검사</a:t>
            </a:r>
          </a:p>
        </p:txBody>
      </p:sp>
      <p:sp>
        <p:nvSpPr>
          <p:cNvPr id="14" name="본선에서 확인할 것">
            <a:extLst xmlns:a="http://schemas.openxmlformats.org/drawingml/2006/main">
              <a:ext uri="{FF2B5EF4-FFF2-40B4-BE49-F238E27FC236}">
                <a16:creationId xmlns:a16="http://schemas.microsoft.com/office/drawing/2014/main" id="{01BB005E-2F45-4B35-A714-410F70AC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66975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본선에서 확인할 것</a:t>
            </a:r>
          </a:p>
        </p:txBody>
      </p:sp>
      <p:sp>
        <p:nvSpPr>
          <p:cNvPr id="15" name="실제 마이크 인식률과 지연&#10;자막 공백 표시와 TTS 자연스러움&#10;장치 확보">
            <a:extLst xmlns:a="http://schemas.openxmlformats.org/drawingml/2006/main">
              <a:ext uri="{FF2B5EF4-FFF2-40B4-BE49-F238E27FC236}">
                <a16:creationId xmlns:a16="http://schemas.microsoft.com/office/drawing/2014/main" id="{6EED4500-2547-462D-BE8C-CFF4E897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52006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실제 마이크 인식률과 지연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자막 공백 표시와 TTS 자연스러움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장치 확보 시 익명 발언 방향 추정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카메라와 실물 패널은 후속 검증</a:t>
            </a:r>
          </a:p>
        </p:txBody>
      </p:sp>
      <p:sp>
        <p:nvSpPr>
          <p:cNvPr id="16" name="직선 연결선 15">
            <a:extLst xmlns:a="http://schemas.openxmlformats.org/drawingml/2006/main">
              <a:ext uri="{FF2B5EF4-FFF2-40B4-BE49-F238E27FC236}">
                <a16:creationId xmlns:a16="http://schemas.microsoft.com/office/drawing/2014/main" id="{675A7351-6BD2-4D52-AABF-D99293F2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5339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AB3AE"/>
            </a:solidFill>
          </a:ln>
        </p:spPr>
      </p:sp>
      <p:sp>
        <p:nvSpPr>
          <p:cNvPr id="17" name="80초 시연">
            <a:extLst xmlns:a="http://schemas.openxmlformats.org/drawingml/2006/main">
              <a:ext uri="{FF2B5EF4-FFF2-40B4-BE49-F238E27FC236}">
                <a16:creationId xmlns:a16="http://schemas.microsoft.com/office/drawing/2014/main" id="{F6100743-E707-4AD7-9586-AAA4AF7D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434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80초 시연</a:t>
            </a:r>
          </a:p>
        </p:txBody>
      </p:sp>
      <p:sp>
        <p:nvSpPr>
          <p:cNvPr id="18" name="대본 자막과 고정 좌석을 사용하는 시연임을 안내합니다.&#10;문장을 입력하고 ">
            <a:extLst xmlns:a="http://schemas.openxmlformats.org/drawingml/2006/main">
              <a:ext uri="{FF2B5EF4-FFF2-40B4-BE49-F238E27FC236}">
                <a16:creationId xmlns:a16="http://schemas.microsoft.com/office/drawing/2014/main" id="{A0BE3777-E98B-4EE1-99ED-4ECC83E9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14875"/>
            <a:ext cx="8858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회의 시나리오가 80초 동안 자동으로 진행됩니다.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동시 발언 확인, 비공개 작성, 음성 발언을 한 흐름으로 보여 줍니다.</a:t>
            </a:r>
          </a:p>
          <a:p xmlns:a="http://schemas.openxmlformats.org/drawingml/2006/main">
            <a:pPr>
              <a:buNone/>
              <a:def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마이크 성능은 아직 측정하지 않았다고 설명합니다.</a:t>
            </a:r>
          </a:p>
        </p:txBody>
      </p:sp>
      <p:sp>
        <p:nvSpPr>
          <p:cNvPr id="19" name="현재는 제한적 MVP입니다. 실제 회의 효과와 마이크 성능을 검증한 제품">
            <a:extLst xmlns:a="http://schemas.openxmlformats.org/drawingml/2006/main">
              <a:ext uri="{FF2B5EF4-FFF2-40B4-BE49-F238E27FC236}">
                <a16:creationId xmlns:a16="http://schemas.microsoft.com/office/drawing/2014/main" id="{151A59B7-E54F-495D-A18C-C8125123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05050"/>
                </a:solidFill>
                <a:latin typeface="Malgun Gothic"/>
                <a:ea typeface="Malgun Gothic"/>
                <a:cs typeface="Malgun Gothic"/>
              </a:rPr>
              <a:t>현재는 제한적 MVP입니다. 실제 회의 효과와 마이크 성능을 검증한 제품으로 소개하지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3515475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Malgun Gothi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Malgun Gothi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2026-09-16T07:17:04.7000000Z</dcterms:created>
  <dcterms:modified xsi:type="dcterms:W3CDTF">2026-09-16T07:17:04.7010000Z</dcterms:modified>
</coreProperties>
</file>